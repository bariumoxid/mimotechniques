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6" r:id="rId4"/>
    <p:sldId id="265" r:id="rId5"/>
    <p:sldId id="267" r:id="rId6"/>
    <p:sldId id="268" r:id="rId7"/>
    <p:sldId id="269" r:id="rId8"/>
    <p:sldId id="270" r:id="rId9"/>
    <p:sldId id="271" r:id="rId10"/>
    <p:sldId id="27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22" autoAdjust="0"/>
    <p:restoredTop sz="85306" autoAdjust="0"/>
  </p:normalViewPr>
  <p:slideViewPr>
    <p:cSldViewPr snapToGrid="0">
      <p:cViewPr>
        <p:scale>
          <a:sx n="75" d="100"/>
          <a:sy n="75" d="100"/>
        </p:scale>
        <p:origin x="837" y="2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06AF6-307D-47B9-ACBB-BC18CBAA4992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E27F9-5A8F-4462-9502-92BCFD9967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062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E27F9-5A8F-4462-9502-92BCFD99675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019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E27F9-5A8F-4462-9502-92BCFD99675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611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E27F9-5A8F-4462-9502-92BCFD99675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90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E27F9-5A8F-4462-9502-92BCFD99675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532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Clustered Delay Line, Tapped Delay Line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Physical Downlink Shared Channel </a:t>
            </a:r>
            <a:r>
              <a:rPr lang="en-US" altLang="zh-CN" dirty="0" err="1"/>
              <a:t>pdsch</a:t>
            </a:r>
            <a:r>
              <a:rPr lang="en-US" altLang="zh-CN" dirty="0"/>
              <a:t> </a:t>
            </a:r>
            <a:r>
              <a:rPr lang="en-US" altLang="zh-CN" dirty="0" err="1"/>
              <a:t>pdcch</a:t>
            </a:r>
            <a:r>
              <a:rPr lang="en-US" altLang="zh-CN" dirty="0"/>
              <a:t> </a:t>
            </a:r>
            <a:r>
              <a:rPr lang="en-US" altLang="zh-CN" dirty="0" err="1"/>
              <a:t>pusch</a:t>
            </a:r>
            <a:r>
              <a:rPr lang="en-US" altLang="zh-CN" dirty="0"/>
              <a:t> </a:t>
            </a:r>
            <a:r>
              <a:rPr lang="en-US" altLang="zh-CN" dirty="0" err="1"/>
              <a:t>pucch</a:t>
            </a:r>
            <a:r>
              <a:rPr lang="en-US" altLang="zh-CN" dirty="0"/>
              <a:t>. Monotonic function. </a:t>
            </a:r>
            <a:r>
              <a:rPr lang="en-US" altLang="zh-CN"/>
              <a:t>Es/N0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E27F9-5A8F-4462-9502-92BCFD99675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7490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900" dirty="0"/>
              <a:t>38.211, 38.212 the key 211 </a:t>
            </a:r>
            <a:r>
              <a:rPr lang="en-US" altLang="zh-CN" sz="1900" dirty="0" err="1"/>
              <a:t>mimo</a:t>
            </a:r>
            <a:r>
              <a:rPr lang="en-US" altLang="zh-CN" sz="1900" dirty="0"/>
              <a:t> codework/modulation 212: channel coding and codeword mapping</a:t>
            </a:r>
            <a:r>
              <a:rPr lang="zh-CN" altLang="en-US" sz="1900" dirty="0"/>
              <a:t>。</a:t>
            </a:r>
            <a:endParaRPr lang="en-US" altLang="zh-CN" sz="1900" dirty="0"/>
          </a:p>
          <a:p>
            <a:r>
              <a:rPr lang="en-US" altLang="zh-CN" sz="1900" dirty="0"/>
              <a:t>38.101 – 4</a:t>
            </a:r>
            <a:r>
              <a:rPr lang="zh-CN" altLang="en-US" sz="1900" dirty="0"/>
              <a:t>： </a:t>
            </a:r>
            <a:r>
              <a:rPr lang="en-US" altLang="zh-CN" sz="1900" dirty="0"/>
              <a:t>ref demodulation performance requirement (baseband)     </a:t>
            </a:r>
            <a:endParaRPr lang="zh-CN" altLang="en-US" sz="19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E27F9-5A8F-4462-9502-92BCFD99675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723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CA8CE1-457A-16E4-9E30-5B65600EC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BDB984B-71D5-CCCB-3EB1-A3A4497629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AD8F6-BD67-0DD2-90D1-F08951C98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AEE67-AEBB-4C3E-8606-66E0CCE330BC}" type="datetime1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FD6A90-5D59-597C-FA5A-699D224E4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2B431E-19E6-40E1-CFA6-5A165DE50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778F4-F869-49EC-876F-75AABD7B5B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09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C70166-AF93-693A-E57A-1EFBA4DEF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58D6B0-811C-B7C6-2F99-628CE5FFA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1C2802-BD15-C92D-A1B3-D5561AEB8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4148F-81AF-4FEA-B300-8F5D116B0065}" type="datetime1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1949C1-97BB-B4A6-B8BF-10C08B7BA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9914B3-E2FB-CC19-1189-CE2C16272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778F4-F869-49EC-876F-75AABD7B5B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001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ED012-CB52-B100-8EF6-677119B24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D9ACA1-09E8-BEC5-BC1F-401C0ABF4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431AC3-FD8A-DF0E-69EF-EFB3DE7BF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78377-656F-4268-940C-8B965F82C008}" type="datetime1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B31711-9950-8832-74C2-D9CED9803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7BBBEB-4483-E4B2-8680-106EBC4FD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778F4-F869-49EC-876F-75AABD7B5B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864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3E800B-CFDB-590F-5B00-F3E92D514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2E03F2-1601-3712-7249-2175C2B0C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ADCA00-A6B7-78B4-BCE6-CAA06B0EC2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B7012D-D48F-EF03-F910-7A1504021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D275D-C9BD-4214-AE2B-8B828D17E4A1}" type="datetime1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DF6902-20CE-E481-98DD-2E601ED9B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309122-0824-4904-696D-BFFBD9AEC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778F4-F869-49EC-876F-75AABD7B5B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666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A7A852-D77A-E25E-63C3-B7F89A23A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7FAE66-64C4-5019-2A98-F7B1EBDD2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7EE675-C7E8-A3F1-125F-FDC4FD23E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37CB9A5-1679-02CF-55E6-5867B70EF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9987F53-3608-4D7E-1CA8-266438058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AF922A9-E982-0AA9-7B1D-3D412D303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F12B-B1E4-4232-A921-5CD9E8C7CE78}" type="datetime1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DE6B83B-FC74-C1FE-338D-1F0DD25CF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9883820-FB54-E8E6-D14C-5E9CAE1AF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778F4-F869-49EC-876F-75AABD7B5B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489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2F9DC7-D7BA-6DAE-2C8B-F2A4F5C84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859467-AD61-04A5-E305-789C6DAB9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519A9-016F-488A-9E38-2AAA80112BE2}" type="datetime1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F6EF466-CA45-EBFA-8A50-34308FDBF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3199BDD-A636-DC15-2591-1C9554C50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778F4-F869-49EC-876F-75AABD7B5B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422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E9108F6-67F8-1AE5-3CB8-77F58D7B3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20205-1646-4F20-9432-DDA11DDF4BD6}" type="datetime1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97DFEBE-1CD8-DE23-A3D2-99B0B7E92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9AAA45-C8C6-06D7-AF98-6B3606475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778F4-F869-49EC-876F-75AABD7B5B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285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F907FE-3B4D-236F-C4BF-AE17E136A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5D9868-48AD-0D7B-A5CD-59C97B9B0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8E9BFC-6316-9378-707A-997A94CB9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B2AD31-42C1-A464-EDC4-FC0AB0FB0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CA799-B4BA-4704-9B14-101D0629E8F1}" type="datetime1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CABED9-50DF-2357-61DB-C03898BCA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BBB415-4763-DC2A-EC75-1DB5554A5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778F4-F869-49EC-876F-75AABD7B5B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656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77C229-22A2-30EE-4BCE-8F455495F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01AB0E1-9EB3-36A0-7FD1-9CD6B96EB1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44A24B-E43C-DACF-BB60-71397A0BC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8DEE42-E661-D3FF-94C3-B053DEF6F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1D122-DFBC-43DE-ADA8-9D106F022C48}" type="datetime1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7C900E-F651-6B16-C2B5-F69EECABA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BE5534-5A33-C3E6-2DBD-F987F67E1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778F4-F869-49EC-876F-75AABD7B5B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659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89EA5A-6418-6BBF-EA99-F8D0EE6A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3D31B8-DD92-FE44-C3CA-D05E7F99C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B032D-A025-4A57-84BE-EA1A827FA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A1467-0EF3-4859-99F5-7C80340788F3}" type="datetime1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B33AC7-35DA-9B55-728B-5127DBB93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A125C-E3F0-F430-72E4-F560CB01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778F4-F869-49EC-876F-75AABD7B5B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87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7BD9617-C2D3-B78C-3BC7-912B42349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4E328F-817F-B80F-6DAD-EFAB7FF13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B8BDBA-D969-379C-779A-600997FE1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481D-5FEA-402B-A96F-686498436F15}" type="datetime1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805AE0-0B65-484D-EEFB-FD6F20211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17087A-51D2-1BCD-9FF8-24B31138B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778F4-F869-49EC-876F-75AABD7B5B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963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87CA369-F940-0770-B250-720E33745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1DDB4F-B9F8-C19A-860C-668EE2326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1D2DF9-1380-29EA-DB18-942949F01D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2047AB-8171-468A-A15B-570A037DD4A0}" type="datetime1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92CF2A-53C8-2FDA-76EA-7C86A01728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B4B3E-2C5F-C53C-EEE0-E79EA49B5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B778F4-F869-49EC-876F-75AABD7B5B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787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35E8B0-D76F-46D8-E962-C01D02425D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MIMO Techniques in 5/6G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55361DB-9E63-62F4-82B6-5757B89752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17205"/>
            <a:ext cx="12192000" cy="1655762"/>
          </a:xfrm>
        </p:spPr>
        <p:txBody>
          <a:bodyPr>
            <a:normAutofit/>
          </a:bodyPr>
          <a:lstStyle/>
          <a:p>
            <a:r>
              <a:rPr lang="en-US" altLang="zh-CN" dirty="0"/>
              <a:t>F-js851-3*</a:t>
            </a:r>
          </a:p>
          <a:p>
            <a:r>
              <a:rPr lang="en-US" altLang="zh-CN" dirty="0"/>
              <a:t>Kaiyuan Bao (kb784)</a:t>
            </a:r>
          </a:p>
          <a:p>
            <a:r>
              <a:rPr lang="en-US" altLang="zh-CN" dirty="0"/>
              <a:t>Supervisor: Prof. Albert Guillen </a:t>
            </a:r>
            <a:r>
              <a:rPr lang="en-US" altLang="zh-CN" dirty="0" err="1"/>
              <a:t>i</a:t>
            </a:r>
            <a:r>
              <a:rPr lang="en-US" altLang="zh-CN" dirty="0"/>
              <a:t> Fabregas, </a:t>
            </a:r>
            <a:r>
              <a:rPr lang="en-GB" altLang="zh-CN" dirty="0"/>
              <a:t>Alexander Hamilton (Nokia)</a:t>
            </a:r>
            <a:endParaRPr lang="zh-CN" altLang="en-US" dirty="0"/>
          </a:p>
        </p:txBody>
      </p:sp>
      <p:pic>
        <p:nvPicPr>
          <p:cNvPr id="8" name="图片 7" descr="图片包含 游戏机, 画&#10;&#10;AI 生成的内容可能不正确。">
            <a:extLst>
              <a:ext uri="{FF2B5EF4-FFF2-40B4-BE49-F238E27FC236}">
                <a16:creationId xmlns:a16="http://schemas.microsoft.com/office/drawing/2014/main" id="{3691B591-5F3A-B635-147F-32AC11D83A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50" y="67060"/>
            <a:ext cx="2770899" cy="576000"/>
          </a:xfrm>
          <a:prstGeom prst="rect">
            <a:avLst/>
          </a:prstGeom>
        </p:spPr>
      </p:pic>
      <p:pic>
        <p:nvPicPr>
          <p:cNvPr id="14" name="图片 13" descr="卡通画&#10;&#10;AI 生成的内容可能不正确。">
            <a:extLst>
              <a:ext uri="{FF2B5EF4-FFF2-40B4-BE49-F238E27FC236}">
                <a16:creationId xmlns:a16="http://schemas.microsoft.com/office/drawing/2014/main" id="{0DF37E2C-552B-8E79-60A3-8B47D72D2A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47" r="6812" b="-6773"/>
          <a:stretch>
            <a:fillRect/>
          </a:stretch>
        </p:blipFill>
        <p:spPr>
          <a:xfrm>
            <a:off x="10495839" y="0"/>
            <a:ext cx="1696162" cy="80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681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FF6A1-5B32-7043-B7C3-2D8B86A9C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865" y="377422"/>
            <a:ext cx="11082270" cy="60723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Background &amp; Motivation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C4747E-D289-1B3A-35E7-C671D8866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865" y="1146220"/>
            <a:ext cx="11082270" cy="5030743"/>
          </a:xfrm>
        </p:spPr>
        <p:txBody>
          <a:bodyPr>
            <a:normAutofit/>
          </a:bodyPr>
          <a:lstStyle/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Rapid growth in mobile traffic</a:t>
            </a: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Emerging applications demand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capacity, reliability and lower latency</a:t>
            </a: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5G New Radio (5G NR) defines three major service categories (</a:t>
            </a:r>
            <a:r>
              <a:rPr lang="en-US" altLang="zh-CN" sz="1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eMBB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1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mMTC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URLLC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buClr>
                <a:schemeClr val="tx1"/>
              </a:buClr>
            </a:pP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MIMO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is a key enabler to meet these performance requirements</a:t>
            </a:r>
            <a:endParaRPr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B8A9FBE-1ADC-7707-F83F-EB6C78156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865" y="6356350"/>
            <a:ext cx="9881713" cy="365125"/>
          </a:xfrm>
        </p:spPr>
        <p:txBody>
          <a:bodyPr/>
          <a:lstStyle/>
          <a:p>
            <a:pPr algn="l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Source: Nokia Global Network Traffic Report (2024), 5G NR: The Next Generation Wireless Access Technology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98A1E4-49AF-6477-7C1D-7193789D6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026535" cy="365125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MIMO Techniques in 5/6G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fld id="{95B778F4-F869-49EC-876F-75AABD7B5BBF}" type="slidenum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31116E1-D544-45C4-5D8E-8C5BDDAE5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774" y="3275322"/>
            <a:ext cx="5141370" cy="218862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1CA3B08-CA75-C863-6D20-53D31D0C8DEE}"/>
              </a:ext>
            </a:extLst>
          </p:cNvPr>
          <p:cNvSpPr txBox="1"/>
          <p:nvPr/>
        </p:nvSpPr>
        <p:spPr>
          <a:xfrm>
            <a:off x="907934" y="5625515"/>
            <a:ext cx="46953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Consumer Mobile Traffic Forecast (EB/month) 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2A17F48E-BFA3-0B24-C5EE-A74FED93A300}"/>
              </a:ext>
            </a:extLst>
          </p:cNvPr>
          <p:cNvSpPr/>
          <p:nvPr/>
        </p:nvSpPr>
        <p:spPr>
          <a:xfrm>
            <a:off x="8279781" y="3615151"/>
            <a:ext cx="1502905" cy="1176662"/>
          </a:xfrm>
          <a:prstGeom prst="triangle">
            <a:avLst/>
          </a:prstGeom>
          <a:noFill/>
          <a:ln w="349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144D9C-8FD7-61A1-22DC-312E7065AACB}"/>
              </a:ext>
            </a:extLst>
          </p:cNvPr>
          <p:cNvSpPr txBox="1"/>
          <p:nvPr/>
        </p:nvSpPr>
        <p:spPr>
          <a:xfrm>
            <a:off x="6652884" y="2951886"/>
            <a:ext cx="4695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Enhanced Mobile Broadband</a:t>
            </a:r>
          </a:p>
          <a:p>
            <a:pPr algn="ctr"/>
            <a:r>
              <a:rPr lang="en-US" altLang="zh-CN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eMBB</a:t>
            </a:r>
            <a:endParaRPr lang="zh-CN" altLang="en-US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7DED9E0-B322-5102-FEA1-39E0BE1A6278}"/>
              </a:ext>
            </a:extLst>
          </p:cNvPr>
          <p:cNvSpPr txBox="1"/>
          <p:nvPr/>
        </p:nvSpPr>
        <p:spPr>
          <a:xfrm>
            <a:off x="8960595" y="4829483"/>
            <a:ext cx="265429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URLLC</a:t>
            </a:r>
          </a:p>
          <a:p>
            <a:pPr algn="ctr"/>
            <a:r>
              <a:rPr lang="en-US" altLang="zh-CN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Ultra-Reliable and Low Latency Communications</a:t>
            </a:r>
            <a:endParaRPr lang="zh-CN" altLang="en-US" sz="1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9DCC63B-7899-0961-7A97-38F24706B23A}"/>
              </a:ext>
            </a:extLst>
          </p:cNvPr>
          <p:cNvSpPr txBox="1"/>
          <p:nvPr/>
        </p:nvSpPr>
        <p:spPr>
          <a:xfrm>
            <a:off x="6096000" y="4831207"/>
            <a:ext cx="3231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mMTC</a:t>
            </a:r>
            <a:endParaRPr lang="en-US" altLang="zh-CN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Massive Machine-Type Communications</a:t>
            </a:r>
            <a:endParaRPr lang="zh-CN" altLang="en-US" sz="1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860C267-CBA2-6958-1BC4-CDDF9CA755DF}"/>
              </a:ext>
            </a:extLst>
          </p:cNvPr>
          <p:cNvSpPr txBox="1"/>
          <p:nvPr/>
        </p:nvSpPr>
        <p:spPr>
          <a:xfrm>
            <a:off x="8721494" y="4187516"/>
            <a:ext cx="619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5G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1BB12AB-6642-2D7D-EC03-849DAF9E2F98}"/>
              </a:ext>
            </a:extLst>
          </p:cNvPr>
          <p:cNvSpPr txBox="1"/>
          <p:nvPr/>
        </p:nvSpPr>
        <p:spPr>
          <a:xfrm>
            <a:off x="6137089" y="5625515"/>
            <a:ext cx="55427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5G NR Service Categories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18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1EF34-C426-0FE2-D5C5-E93550025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7A07AA-378E-9B53-A2A4-469AC3337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865" y="377422"/>
            <a:ext cx="11082270" cy="60723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3GPP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7D11EE-C470-4910-07D2-552D55210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472" y="1186438"/>
            <a:ext cx="11082271" cy="503074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3GPP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(3rd Generation Parnership Project) develops mobile telecommunication standards</a:t>
            </a: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5G NR specifications belong to the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38-series TS</a:t>
            </a: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This project follows a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3GPP-aligned framework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, enabling insights relevant to standardization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898A73-1D3B-2997-1AEB-210A9B683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026535" cy="365125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MIMO Techniques in 5/6G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fld id="{95B778F4-F869-49EC-876F-75AABD7B5BBF}" type="slidenum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内容占位符 4" descr="徽标, 公司名称&#10;&#10;AI 生成的内容可能不正确。">
            <a:extLst>
              <a:ext uri="{FF2B5EF4-FFF2-40B4-BE49-F238E27FC236}">
                <a16:creationId xmlns:a16="http://schemas.microsoft.com/office/drawing/2014/main" id="{8E889432-8B9F-4DDA-B725-341DCA4BE0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0445" y="-1"/>
            <a:ext cx="1721556" cy="118643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C1B8B1B-0C62-8588-10DB-80918857C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54" y="2933483"/>
            <a:ext cx="5128615" cy="2683279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829F1ACC-E551-BEAA-5AEE-76F90C200C30}"/>
              </a:ext>
            </a:extLst>
          </p:cNvPr>
          <p:cNvSpPr txBox="1"/>
          <p:nvPr/>
        </p:nvSpPr>
        <p:spPr>
          <a:xfrm>
            <a:off x="720054" y="5676394"/>
            <a:ext cx="51286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3GPP Roadmap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页脚占位符 3">
            <a:extLst>
              <a:ext uri="{FF2B5EF4-FFF2-40B4-BE49-F238E27FC236}">
                <a16:creationId xmlns:a16="http://schemas.microsoft.com/office/drawing/2014/main" id="{0C8F285C-C200-84DC-A33A-2A0CD570FCAC}"/>
              </a:ext>
            </a:extLst>
          </p:cNvPr>
          <p:cNvSpPr txBox="1">
            <a:spLocks/>
          </p:cNvSpPr>
          <p:nvPr/>
        </p:nvSpPr>
        <p:spPr>
          <a:xfrm>
            <a:off x="554865" y="6356350"/>
            <a:ext cx="110822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Source: Ericsson 6G standardization – an overview of timeline and high-level technology principles, ETSI TS 138 201</a:t>
            </a:r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A1158573-E671-C4D2-71B2-0BB27602E0F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202"/>
          <a:stretch>
            <a:fillRect/>
          </a:stretch>
        </p:blipFill>
        <p:spPr>
          <a:xfrm>
            <a:off x="6122380" y="2742100"/>
            <a:ext cx="5589363" cy="2874662"/>
          </a:xfrm>
          <a:prstGeom prst="rect">
            <a:avLst/>
          </a:prstGeom>
        </p:spPr>
      </p:pic>
      <p:sp>
        <p:nvSpPr>
          <p:cNvPr id="71" name="文本框 70">
            <a:extLst>
              <a:ext uri="{FF2B5EF4-FFF2-40B4-BE49-F238E27FC236}">
                <a16:creationId xmlns:a16="http://schemas.microsoft.com/office/drawing/2014/main" id="{DD02C5EB-7A6F-37D4-D727-C627D3848539}"/>
              </a:ext>
            </a:extLst>
          </p:cNvPr>
          <p:cNvSpPr txBox="1"/>
          <p:nvPr/>
        </p:nvSpPr>
        <p:spPr>
          <a:xfrm>
            <a:off x="5848669" y="5676394"/>
            <a:ext cx="6136784" cy="30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Relationship Between Physical Layer Specifications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634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B0B73-F928-13F9-3BD8-7994B0A43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8FCAC-07D9-A026-F21B-953C8D99C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865" y="377422"/>
            <a:ext cx="11082270" cy="60723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Multiple-Input and Multiple-Output (MIMO)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52F3A7-ECDB-A375-E388-BE256AE8B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865" y="1155129"/>
            <a:ext cx="11082270" cy="503074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antennas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at transmitter/receiver</a:t>
            </a: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Multi-antenna technologies:</a:t>
            </a:r>
          </a:p>
          <a:p>
            <a:pPr lvl="1">
              <a:buClr>
                <a:schemeClr val="tx1"/>
              </a:buClr>
            </a:pP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Beamforming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– increases signal quality by spatially focusing power</a:t>
            </a:r>
          </a:p>
          <a:p>
            <a:pPr lvl="1">
              <a:buClr>
                <a:schemeClr val="tx1"/>
              </a:buClr>
            </a:pP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Spatial multiplexing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– transmits multiple streams to increase throughput</a:t>
            </a:r>
          </a:p>
          <a:p>
            <a:pPr lvl="1">
              <a:buClr>
                <a:schemeClr val="tx1"/>
              </a:buClr>
            </a:pP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Null forming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– reduces interference by suppressing gain in undesired directions</a:t>
            </a:r>
          </a:p>
          <a:p>
            <a:pPr>
              <a:buClr>
                <a:schemeClr val="tx1"/>
              </a:buClr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5G NR strengthens MIMO by scaling antenna arrays (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Massive MIMO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), supporting both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single-user MIMO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multi-user MIMO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E1F9D2-0ACB-220B-5069-3AC586F96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865" y="6356350"/>
            <a:ext cx="11082270" cy="365125"/>
          </a:xfrm>
        </p:spPr>
        <p:txBody>
          <a:bodyPr/>
          <a:lstStyle/>
          <a:p>
            <a:pPr algn="l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Source: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Sharetechnote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, Ericsson Massive MIMO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C33F30-D9E6-1022-21FE-713C163C6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026535" cy="365125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MIMO Techniques in 5/6G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fld id="{95B778F4-F869-49EC-876F-75AABD7B5BBF}" type="slidenum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3A69452-0B0B-C406-FC0A-9F64136F7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818" y="3350815"/>
            <a:ext cx="8334778" cy="239046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B4DFAA6-4EC8-0C13-27A1-5BE24CFD41B2}"/>
              </a:ext>
            </a:extLst>
          </p:cNvPr>
          <p:cNvSpPr txBox="1"/>
          <p:nvPr/>
        </p:nvSpPr>
        <p:spPr>
          <a:xfrm>
            <a:off x="3336900" y="5757868"/>
            <a:ext cx="51286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High Level View of Multi-User MIMO (MU-MIMO)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994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B9FD1-9D2C-7099-DB00-A1465530F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39FC07-B839-A262-0FC8-D6D9A400F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865" y="377422"/>
            <a:ext cx="11082270" cy="60723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Key MIMO Factors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88DC21-F2C4-563B-3FCB-E63068C41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865" y="1155129"/>
            <a:ext cx="5704267" cy="5030743"/>
          </a:xfrm>
        </p:spPr>
        <p:txBody>
          <a:bodyPr>
            <a:normAutofit/>
          </a:bodyPr>
          <a:lstStyle/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Antenna configuration (Tx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× Rx):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4×4 / 8×8</a:t>
            </a: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Rank / Layers: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1 / 2 / 4 / 8</a:t>
            </a: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Channel State Information (CSI):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PMI / CQI / RI</a:t>
            </a: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Retransmission (HARQ):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on / off </a:t>
            </a: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Codewords: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single / dual</a:t>
            </a: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Channel models: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TDL / CDL</a:t>
            </a:r>
            <a:endParaRPr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0C1BDA7-2D00-9081-115E-54EF8A495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865" y="6356350"/>
            <a:ext cx="11082270" cy="365125"/>
          </a:xfrm>
        </p:spPr>
        <p:txBody>
          <a:bodyPr/>
          <a:lstStyle/>
          <a:p>
            <a:pPr algn="l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Source: 5G NR: The Next Generation Wireless Access Technology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D9C835-E5F8-F30B-70ED-EFAB7AE5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026535" cy="365125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MIMO Techniques in 5/6G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fld id="{95B778F4-F869-49EC-876F-75AABD7B5BBF}" type="slidenum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830F977-50D5-9212-3E0F-1A071AD4083D}"/>
              </a:ext>
            </a:extLst>
          </p:cNvPr>
          <p:cNvSpPr txBox="1">
            <a:spLocks/>
          </p:cNvSpPr>
          <p:nvPr/>
        </p:nvSpPr>
        <p:spPr>
          <a:xfrm>
            <a:off x="6174346" y="1155128"/>
            <a:ext cx="5704267" cy="5030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559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F7BEB-F6F8-7C40-C35F-27D2FC144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811416-A87A-4A1A-4165-64AF60DEC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865" y="377422"/>
            <a:ext cx="11082270" cy="60723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Channel State Information (CSI)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B67127-22D4-A5C0-F66C-948249928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865" y="1146220"/>
            <a:ext cx="11082270" cy="5030743"/>
          </a:xfrm>
        </p:spPr>
        <p:txBody>
          <a:bodyPr>
            <a:normAutofit/>
          </a:bodyPr>
          <a:lstStyle/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The UE estimates the downlink channel and reports CSI to the 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gNB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CSI consists of:</a:t>
            </a:r>
          </a:p>
          <a:p>
            <a:pPr lvl="1">
              <a:buClr>
                <a:schemeClr val="tx1"/>
              </a:buClr>
            </a:pP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Precoder Matrix Indicator (PMI):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preferred precoding matrix</a:t>
            </a:r>
          </a:p>
          <a:p>
            <a:pPr lvl="1">
              <a:buClr>
                <a:schemeClr val="tx1"/>
              </a:buClr>
            </a:pP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Rank Indicator (RI):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recommended number of layers (rank)</a:t>
            </a:r>
          </a:p>
          <a:p>
            <a:pPr lvl="1">
              <a:buClr>
                <a:schemeClr val="tx1"/>
              </a:buClr>
            </a:pP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Channel Quality Indicator (CQI):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recommended modulation and coding</a:t>
            </a:r>
          </a:p>
          <a:p>
            <a:pPr>
              <a:buClr>
                <a:schemeClr val="tx1"/>
              </a:buClr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Strongly impacts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throughput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BLER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inter-layer interference</a:t>
            </a:r>
          </a:p>
          <a:p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A4809AF-1C89-B1D2-8EF9-D816F52DC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865" y="6356350"/>
            <a:ext cx="11082270" cy="365125"/>
          </a:xfrm>
        </p:spPr>
        <p:txBody>
          <a:bodyPr/>
          <a:lstStyle/>
          <a:p>
            <a:pPr algn="l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Source: MATLAB 5G NR Downlink CSI Reporting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B6B49A-130B-935C-8172-075C5AB1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026535" cy="365125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MIMO Techniques in 5/6G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fld id="{95B778F4-F869-49EC-876F-75AABD7B5BBF}" type="slidenum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5CCE1C1-992E-0253-5AD2-688EBDAF6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292" y="3189825"/>
            <a:ext cx="4921413" cy="240131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D9B5D6D-8A2E-236F-A58D-283E7AFCC984}"/>
              </a:ext>
            </a:extLst>
          </p:cNvPr>
          <p:cNvSpPr txBox="1"/>
          <p:nvPr/>
        </p:nvSpPr>
        <p:spPr>
          <a:xfrm>
            <a:off x="3590084" y="5576274"/>
            <a:ext cx="50118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CSI Between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gNB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(Base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Station) and UE (User Equipment)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076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4380B-FB44-E067-22EA-94FA43955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EEFE5A-68F0-A94B-704D-15F4E2EDA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865" y="377422"/>
            <a:ext cx="11082270" cy="60723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3BAE86-3C2A-CAA5-3F9A-50BE152BE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865" y="1146220"/>
            <a:ext cx="11082270" cy="50307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Conduct performance analysis within a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3GPP-aligned framework</a:t>
            </a: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Investigate the impact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antenna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configuration, rank/layers, CSI feedback, HARQ and channel models</a:t>
            </a: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Provide insights to support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3GPP standardization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discussions</a:t>
            </a:r>
          </a:p>
          <a:p>
            <a:pPr marL="0" indent="0">
              <a:buNone/>
            </a:pP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Utilize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MATLAB 5G Toolbox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to implement simulation</a:t>
            </a: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Produce systematic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Throughput (%) vs SNR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BLER vs. SNR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curves</a:t>
            </a:r>
          </a:p>
          <a:p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Scope</a:t>
            </a: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Focus on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downlink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MIMO transmission</a:t>
            </a: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Rank 1-8, antenna configurations 4x4 and 8x8</a:t>
            </a:r>
          </a:p>
          <a:p>
            <a:pPr>
              <a:buClr>
                <a:schemeClr val="tx1"/>
              </a:buClr>
            </a:pP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TDL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CDL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channel models</a:t>
            </a:r>
          </a:p>
          <a:p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3A1099-FFCC-5B98-467C-C081001A2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865" y="6356350"/>
            <a:ext cx="11082270" cy="365125"/>
          </a:xfrm>
        </p:spPr>
        <p:txBody>
          <a:bodyPr/>
          <a:lstStyle/>
          <a:p>
            <a:pPr algn="l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Source: MATLAB NR PDSCH Throughput Using Channel State Information Feedback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B1A9A6-53E3-CFED-69C9-7A5F94849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026535" cy="365125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MIMO Techniques in 5/6G     </a:t>
            </a:r>
            <a:fld id="{95B778F4-F869-49EC-876F-75AABD7B5BBF}" type="slidenum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402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15B8E-4A7F-B7F1-BD15-EF1A572D2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1C3C9C-1C9B-5893-D585-8FC40EB91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865" y="377422"/>
            <a:ext cx="11082270" cy="60723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Initial Result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77E0F9-E9E2-6361-0E46-34BA33A6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865" y="6356350"/>
            <a:ext cx="11082270" cy="365125"/>
          </a:xfrm>
        </p:spPr>
        <p:txBody>
          <a:bodyPr/>
          <a:lstStyle/>
          <a:p>
            <a:pPr algn="l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Note: This figure is a preliminary version. Final results may include minor accuracy improvements.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7D01638-DFB7-1DA7-E56E-B0DEAF25F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026535" cy="365125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MIMO Techniques in 5/6G     </a:t>
            </a:r>
            <a:fld id="{95B778F4-F869-49EC-876F-75AABD7B5BBF}" type="slidenum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B3495F6-AE14-6078-AD22-A69647CA5F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0" t="2104" r="643" b="1756"/>
          <a:stretch>
            <a:fillRect/>
          </a:stretch>
        </p:blipFill>
        <p:spPr>
          <a:xfrm>
            <a:off x="1474519" y="984652"/>
            <a:ext cx="9242961" cy="495589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08DF782-50F2-BA62-EB29-7BDC81026C44}"/>
              </a:ext>
            </a:extLst>
          </p:cNvPr>
          <p:cNvSpPr txBox="1"/>
          <p:nvPr/>
        </p:nvSpPr>
        <p:spPr>
          <a:xfrm>
            <a:off x="1572882" y="5923113"/>
            <a:ext cx="90462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Impact of PMI Selection on Throughput in a 4×4 CDL-C Scenario 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6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BF4B09C-5E21-B3CB-847C-98828EE3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778F4-F869-49EC-876F-75AABD7B5BBF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0DB6105-480F-AE24-E6C5-E84AA4F7B5AE}"/>
              </a:ext>
            </a:extLst>
          </p:cNvPr>
          <p:cNvSpPr txBox="1"/>
          <p:nvPr/>
        </p:nvSpPr>
        <p:spPr>
          <a:xfrm>
            <a:off x="1597377" y="1001130"/>
            <a:ext cx="8991602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Higher Layers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DBA128F-0DA6-5F6B-7A47-985100D31431}"/>
              </a:ext>
            </a:extLst>
          </p:cNvPr>
          <p:cNvSpPr/>
          <p:nvPr/>
        </p:nvSpPr>
        <p:spPr>
          <a:xfrm>
            <a:off x="1597377" y="1370351"/>
            <a:ext cx="8991602" cy="4403915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373AF10-70E9-4F38-7810-925B26F6824C}"/>
              </a:ext>
            </a:extLst>
          </p:cNvPr>
          <p:cNvSpPr txBox="1"/>
          <p:nvPr/>
        </p:nvSpPr>
        <p:spPr>
          <a:xfrm>
            <a:off x="1710060" y="3440710"/>
            <a:ext cx="252306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38.212</a:t>
            </a:r>
          </a:p>
          <a:p>
            <a:pPr algn="ctr"/>
            <a:r>
              <a:rPr lang="en-US" altLang="zh-CN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Multiplexing and channel coding</a:t>
            </a:r>
            <a:endParaRPr lang="zh-CN" altLang="en-US" sz="1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C87A90C-BB2C-77BA-55D8-F6E2D16B65F4}"/>
              </a:ext>
            </a:extLst>
          </p:cNvPr>
          <p:cNvSpPr txBox="1"/>
          <p:nvPr/>
        </p:nvSpPr>
        <p:spPr>
          <a:xfrm>
            <a:off x="1710060" y="4699244"/>
            <a:ext cx="252306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38.211</a:t>
            </a:r>
          </a:p>
          <a:p>
            <a:pPr algn="ctr"/>
            <a:r>
              <a:rPr lang="en-US" altLang="zh-CN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channels and modulation</a:t>
            </a:r>
            <a:endParaRPr lang="zh-CN" altLang="en-US" sz="1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A3F9B5F-70FB-3253-7066-6A0E8F50E303}"/>
              </a:ext>
            </a:extLst>
          </p:cNvPr>
          <p:cNvSpPr txBox="1"/>
          <p:nvPr/>
        </p:nvSpPr>
        <p:spPr>
          <a:xfrm>
            <a:off x="4890910" y="4680313"/>
            <a:ext cx="240453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38.213, 38.214</a:t>
            </a:r>
            <a:br>
              <a:rPr lang="en-US" altLang="zh-CN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layer procedures for control, data</a:t>
            </a:r>
            <a:endParaRPr lang="zh-CN" altLang="en-US" sz="1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6D3AAED-6A10-DC2B-C35E-FDEF855A9E3F}"/>
              </a:ext>
            </a:extLst>
          </p:cNvPr>
          <p:cNvSpPr txBox="1"/>
          <p:nvPr/>
        </p:nvSpPr>
        <p:spPr>
          <a:xfrm>
            <a:off x="7913512" y="4694203"/>
            <a:ext cx="209408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38.215</a:t>
            </a:r>
          </a:p>
          <a:p>
            <a:pPr algn="ctr"/>
            <a:r>
              <a:rPr lang="en-US" altLang="zh-CN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layer measurements</a:t>
            </a:r>
            <a:endParaRPr lang="zh-CN" altLang="en-US" sz="1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27FA476-F2A3-E679-F2A4-2E3F7CF3AAF2}"/>
              </a:ext>
            </a:extLst>
          </p:cNvPr>
          <p:cNvSpPr/>
          <p:nvPr/>
        </p:nvSpPr>
        <p:spPr>
          <a:xfrm>
            <a:off x="1710060" y="4699244"/>
            <a:ext cx="2523066" cy="82800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2D74DF1-61C7-1482-984A-E5C44A32A8A0}"/>
              </a:ext>
            </a:extLst>
          </p:cNvPr>
          <p:cNvSpPr/>
          <p:nvPr/>
        </p:nvSpPr>
        <p:spPr>
          <a:xfrm>
            <a:off x="1710060" y="3412929"/>
            <a:ext cx="2523066" cy="82800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E0CD47C-B149-EA46-908A-34272D7084D4}"/>
              </a:ext>
            </a:extLst>
          </p:cNvPr>
          <p:cNvSpPr/>
          <p:nvPr/>
        </p:nvSpPr>
        <p:spPr>
          <a:xfrm>
            <a:off x="4831645" y="4680313"/>
            <a:ext cx="2523066" cy="82800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36BC5F8-1AE5-AA3B-C0B1-8A06BF748C27}"/>
              </a:ext>
            </a:extLst>
          </p:cNvPr>
          <p:cNvSpPr/>
          <p:nvPr/>
        </p:nvSpPr>
        <p:spPr>
          <a:xfrm>
            <a:off x="7625644" y="4680313"/>
            <a:ext cx="2523066" cy="82800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238F8CF7-A94A-DD26-80B1-CA7F808E2B4C}"/>
              </a:ext>
            </a:extLst>
          </p:cNvPr>
          <p:cNvCxnSpPr>
            <a:cxnSpLocks/>
          </p:cNvCxnSpPr>
          <p:nvPr/>
        </p:nvCxnSpPr>
        <p:spPr>
          <a:xfrm>
            <a:off x="2686547" y="4240929"/>
            <a:ext cx="0" cy="458315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E8F4C24D-2D31-1FAF-6514-B550B886C8CD}"/>
              </a:ext>
            </a:extLst>
          </p:cNvPr>
          <p:cNvCxnSpPr>
            <a:cxnSpLocks/>
            <a:stCxn id="20" idx="0"/>
            <a:endCxn id="16" idx="2"/>
          </p:cNvCxnSpPr>
          <p:nvPr/>
        </p:nvCxnSpPr>
        <p:spPr>
          <a:xfrm flipV="1">
            <a:off x="2971593" y="4240929"/>
            <a:ext cx="0" cy="458315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0D613F9-B14A-D8CD-54BE-F6AF45512E72}"/>
              </a:ext>
            </a:extLst>
          </p:cNvPr>
          <p:cNvCxnSpPr>
            <a:cxnSpLocks/>
          </p:cNvCxnSpPr>
          <p:nvPr/>
        </p:nvCxnSpPr>
        <p:spPr>
          <a:xfrm flipV="1">
            <a:off x="3112912" y="1262130"/>
            <a:ext cx="0" cy="2150799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AF9CA90C-7B9B-CA79-0E4C-451197B1B0D3}"/>
              </a:ext>
            </a:extLst>
          </p:cNvPr>
          <p:cNvCxnSpPr>
            <a:cxnSpLocks/>
          </p:cNvCxnSpPr>
          <p:nvPr/>
        </p:nvCxnSpPr>
        <p:spPr>
          <a:xfrm>
            <a:off x="2749973" y="1308908"/>
            <a:ext cx="0" cy="2104023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椭圆 40">
            <a:extLst>
              <a:ext uri="{FF2B5EF4-FFF2-40B4-BE49-F238E27FC236}">
                <a16:creationId xmlns:a16="http://schemas.microsoft.com/office/drawing/2014/main" id="{8C9EA5C9-1008-2EE5-B6F1-121A2DF8B9DB}"/>
              </a:ext>
            </a:extLst>
          </p:cNvPr>
          <p:cNvSpPr/>
          <p:nvPr/>
        </p:nvSpPr>
        <p:spPr>
          <a:xfrm>
            <a:off x="4192860" y="2542935"/>
            <a:ext cx="4931729" cy="2168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3B7A0064-2457-FDC9-7DD9-D6BD9B72B3DD}"/>
              </a:ext>
            </a:extLst>
          </p:cNvPr>
          <p:cNvCxnSpPr>
            <a:cxnSpLocks/>
          </p:cNvCxnSpPr>
          <p:nvPr/>
        </p:nvCxnSpPr>
        <p:spPr>
          <a:xfrm>
            <a:off x="5876279" y="1323639"/>
            <a:ext cx="0" cy="3356674"/>
          </a:xfrm>
          <a:prstGeom prst="straightConnector1">
            <a:avLst/>
          </a:prstGeom>
          <a:ln w="22225">
            <a:solidFill>
              <a:schemeClr val="tx1"/>
            </a:solidFill>
            <a:prstDash val="sysDash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CB6E603B-EA2D-212B-2A1C-296B88256903}"/>
              </a:ext>
            </a:extLst>
          </p:cNvPr>
          <p:cNvCxnSpPr>
            <a:cxnSpLocks/>
          </p:cNvCxnSpPr>
          <p:nvPr/>
        </p:nvCxnSpPr>
        <p:spPr>
          <a:xfrm flipV="1">
            <a:off x="6271390" y="1308908"/>
            <a:ext cx="0" cy="3371405"/>
          </a:xfrm>
          <a:prstGeom prst="straightConnector1">
            <a:avLst/>
          </a:prstGeom>
          <a:ln w="22225">
            <a:solidFill>
              <a:schemeClr val="tx1"/>
            </a:solidFill>
            <a:prstDash val="sysDash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502421B1-AB56-CC46-6214-670BEE9CE797}"/>
              </a:ext>
            </a:extLst>
          </p:cNvPr>
          <p:cNvCxnSpPr>
            <a:cxnSpLocks/>
          </p:cNvCxnSpPr>
          <p:nvPr/>
        </p:nvCxnSpPr>
        <p:spPr>
          <a:xfrm>
            <a:off x="8498329" y="1308908"/>
            <a:ext cx="0" cy="3378626"/>
          </a:xfrm>
          <a:prstGeom prst="straightConnector1">
            <a:avLst/>
          </a:prstGeom>
          <a:ln w="22225">
            <a:solidFill>
              <a:schemeClr val="tx1"/>
            </a:solidFill>
            <a:prstDash val="sysDash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A95BD767-F619-453D-9042-A6A16251B31F}"/>
              </a:ext>
            </a:extLst>
          </p:cNvPr>
          <p:cNvCxnSpPr>
            <a:cxnSpLocks/>
          </p:cNvCxnSpPr>
          <p:nvPr/>
        </p:nvCxnSpPr>
        <p:spPr>
          <a:xfrm flipV="1">
            <a:off x="8893440" y="1308908"/>
            <a:ext cx="0" cy="3378626"/>
          </a:xfrm>
          <a:prstGeom prst="straightConnector1">
            <a:avLst/>
          </a:prstGeom>
          <a:ln w="22225">
            <a:solidFill>
              <a:schemeClr val="tx1"/>
            </a:solidFill>
            <a:prstDash val="sysDash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630F2719-6C62-4E4A-1A60-91DD17B370A0}"/>
              </a:ext>
            </a:extLst>
          </p:cNvPr>
          <p:cNvCxnSpPr>
            <a:cxnSpLocks/>
          </p:cNvCxnSpPr>
          <p:nvPr/>
        </p:nvCxnSpPr>
        <p:spPr>
          <a:xfrm>
            <a:off x="4233125" y="4918160"/>
            <a:ext cx="598520" cy="0"/>
          </a:xfrm>
          <a:prstGeom prst="straightConnector1">
            <a:avLst/>
          </a:prstGeom>
          <a:ln w="22225">
            <a:solidFill>
              <a:schemeClr val="tx1"/>
            </a:solidFill>
            <a:prstDash val="sysDash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88D9B44A-A59F-2EAF-A3F8-C1D799ED4589}"/>
              </a:ext>
            </a:extLst>
          </p:cNvPr>
          <p:cNvCxnSpPr>
            <a:cxnSpLocks/>
          </p:cNvCxnSpPr>
          <p:nvPr/>
        </p:nvCxnSpPr>
        <p:spPr>
          <a:xfrm flipH="1">
            <a:off x="4233125" y="5258050"/>
            <a:ext cx="584408" cy="0"/>
          </a:xfrm>
          <a:prstGeom prst="straightConnector1">
            <a:avLst/>
          </a:prstGeom>
          <a:ln w="22225">
            <a:solidFill>
              <a:schemeClr val="tx1"/>
            </a:solidFill>
            <a:prstDash val="sysDash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C030D627-65F2-3039-CE45-61CCC3A12400}"/>
              </a:ext>
            </a:extLst>
          </p:cNvPr>
          <p:cNvCxnSpPr>
            <a:cxnSpLocks/>
          </p:cNvCxnSpPr>
          <p:nvPr/>
        </p:nvCxnSpPr>
        <p:spPr>
          <a:xfrm>
            <a:off x="4233125" y="4098229"/>
            <a:ext cx="855838" cy="554303"/>
          </a:xfrm>
          <a:prstGeom prst="straightConnector1">
            <a:avLst/>
          </a:prstGeom>
          <a:ln w="22225">
            <a:solidFill>
              <a:schemeClr val="tx1"/>
            </a:solidFill>
            <a:prstDash val="sysDash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0B1A6947-031A-912B-A5CC-335739D22096}"/>
              </a:ext>
            </a:extLst>
          </p:cNvPr>
          <p:cNvCxnSpPr>
            <a:cxnSpLocks/>
          </p:cNvCxnSpPr>
          <p:nvPr/>
        </p:nvCxnSpPr>
        <p:spPr>
          <a:xfrm flipH="1" flipV="1">
            <a:off x="4001978" y="4257139"/>
            <a:ext cx="814745" cy="515529"/>
          </a:xfrm>
          <a:prstGeom prst="straightConnector1">
            <a:avLst/>
          </a:prstGeom>
          <a:ln w="22225">
            <a:solidFill>
              <a:schemeClr val="tx1"/>
            </a:solidFill>
            <a:prstDash val="sysDash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BF43D856-6CD8-8C27-B29D-7EDD7E9E5D28}"/>
              </a:ext>
            </a:extLst>
          </p:cNvPr>
          <p:cNvCxnSpPr>
            <a:cxnSpLocks/>
            <a:endCxn id="21" idx="3"/>
          </p:cNvCxnSpPr>
          <p:nvPr/>
        </p:nvCxnSpPr>
        <p:spPr>
          <a:xfrm rot="5400000">
            <a:off x="3076887" y="2479879"/>
            <a:ext cx="2503290" cy="190811"/>
          </a:xfrm>
          <a:prstGeom prst="bentConnector2">
            <a:avLst/>
          </a:prstGeom>
          <a:ln>
            <a:solidFill>
              <a:schemeClr val="tx1"/>
            </a:solidFill>
            <a:prstDash val="sysDash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9438B20A-A0E5-CA86-FB8B-AAFC866A8113}"/>
              </a:ext>
            </a:extLst>
          </p:cNvPr>
          <p:cNvCxnSpPr>
            <a:cxnSpLocks/>
            <a:endCxn id="20" idx="3"/>
          </p:cNvCxnSpPr>
          <p:nvPr/>
        </p:nvCxnSpPr>
        <p:spPr>
          <a:xfrm rot="5400000">
            <a:off x="2542179" y="3014587"/>
            <a:ext cx="3789605" cy="407709"/>
          </a:xfrm>
          <a:prstGeom prst="bentConnector2">
            <a:avLst/>
          </a:prstGeom>
          <a:ln>
            <a:solidFill>
              <a:schemeClr val="tx1"/>
            </a:solidFill>
            <a:prstDash val="sysDash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文本框 82">
            <a:extLst>
              <a:ext uri="{FF2B5EF4-FFF2-40B4-BE49-F238E27FC236}">
                <a16:creationId xmlns:a16="http://schemas.microsoft.com/office/drawing/2014/main" id="{046C82BD-0AE2-9F16-FDF5-11C26F8F1BDC}"/>
              </a:ext>
            </a:extLst>
          </p:cNvPr>
          <p:cNvSpPr txBox="1"/>
          <p:nvPr/>
        </p:nvSpPr>
        <p:spPr>
          <a:xfrm>
            <a:off x="1597377" y="5867132"/>
            <a:ext cx="89916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Relationship Between Physical Layer Specifications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0CFEE4-2B4B-C5D9-9DF2-42CB4B433DCB}"/>
              </a:ext>
            </a:extLst>
          </p:cNvPr>
          <p:cNvSpPr/>
          <p:nvPr/>
        </p:nvSpPr>
        <p:spPr>
          <a:xfrm>
            <a:off x="2619023" y="1531357"/>
            <a:ext cx="6948311" cy="82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C5895B-C42B-DDC8-1CB4-014915D481CB}"/>
              </a:ext>
            </a:extLst>
          </p:cNvPr>
          <p:cNvSpPr txBox="1"/>
          <p:nvPr/>
        </p:nvSpPr>
        <p:spPr>
          <a:xfrm>
            <a:off x="4024490" y="1599950"/>
            <a:ext cx="41373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38.202</a:t>
            </a:r>
            <a:b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Services provided by the physical layer</a:t>
            </a:r>
            <a:endParaRPr lang="zh-CN" altLang="en-US" sz="1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918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636CA58-7085-CA70-26AB-1E2085B851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059"/>
          <a:stretch>
            <a:fillRect/>
          </a:stretch>
        </p:blipFill>
        <p:spPr>
          <a:xfrm>
            <a:off x="1878826" y="2113184"/>
            <a:ext cx="874398" cy="216998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66F6066-49BA-70C3-E64B-3AAAB33E9D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9180" b="29650"/>
          <a:stretch>
            <a:fillRect/>
          </a:stretch>
        </p:blipFill>
        <p:spPr>
          <a:xfrm>
            <a:off x="7193884" y="2746619"/>
            <a:ext cx="613191" cy="903111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943DBDD-F240-1225-9B57-904DF7FCA905}"/>
              </a:ext>
            </a:extLst>
          </p:cNvPr>
          <p:cNvCxnSpPr>
            <a:cxnSpLocks/>
          </p:cNvCxnSpPr>
          <p:nvPr/>
        </p:nvCxnSpPr>
        <p:spPr>
          <a:xfrm>
            <a:off x="3279421" y="2824968"/>
            <a:ext cx="3355623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456DB5F0-094D-7BBD-F4C8-D1DF64067CBF}"/>
              </a:ext>
            </a:extLst>
          </p:cNvPr>
          <p:cNvSpPr txBox="1"/>
          <p:nvPr/>
        </p:nvSpPr>
        <p:spPr>
          <a:xfrm>
            <a:off x="4500403" y="2419135"/>
            <a:ext cx="10780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CSI-RS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3A3DDC28-4987-D6F2-AEA3-106A9AD82094}"/>
              </a:ext>
            </a:extLst>
          </p:cNvPr>
          <p:cNvCxnSpPr>
            <a:cxnSpLocks/>
          </p:cNvCxnSpPr>
          <p:nvPr/>
        </p:nvCxnSpPr>
        <p:spPr>
          <a:xfrm flipH="1">
            <a:off x="3279422" y="3380869"/>
            <a:ext cx="3355622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115EB51F-1E11-8CDC-E663-759358FDECC0}"/>
              </a:ext>
            </a:extLst>
          </p:cNvPr>
          <p:cNvCxnSpPr>
            <a:cxnSpLocks/>
          </p:cNvCxnSpPr>
          <p:nvPr/>
        </p:nvCxnSpPr>
        <p:spPr>
          <a:xfrm>
            <a:off x="3327400" y="3987724"/>
            <a:ext cx="3307644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19691085-9066-EE79-027B-D8E54BEC7E98}"/>
              </a:ext>
            </a:extLst>
          </p:cNvPr>
          <p:cNvSpPr txBox="1"/>
          <p:nvPr/>
        </p:nvSpPr>
        <p:spPr>
          <a:xfrm>
            <a:off x="3237828" y="3054849"/>
            <a:ext cx="3603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CSI Feedback (PMI, RI, CQI,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CRI)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F4D1D8D-BCF4-78E5-A3B4-1FE1C7BCFED0}"/>
              </a:ext>
            </a:extLst>
          </p:cNvPr>
          <p:cNvSpPr txBox="1"/>
          <p:nvPr/>
        </p:nvSpPr>
        <p:spPr>
          <a:xfrm>
            <a:off x="4500403" y="3623283"/>
            <a:ext cx="10780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DL Data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DDC3A9A-FFDE-5427-7C84-F4F6A745A195}"/>
              </a:ext>
            </a:extLst>
          </p:cNvPr>
          <p:cNvSpPr txBox="1"/>
          <p:nvPr/>
        </p:nvSpPr>
        <p:spPr>
          <a:xfrm>
            <a:off x="1288349" y="4406937"/>
            <a:ext cx="2055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gNB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(Base Station)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F9A76F6-93FA-12B1-2D8E-A32B694C07A7}"/>
              </a:ext>
            </a:extLst>
          </p:cNvPr>
          <p:cNvSpPr txBox="1"/>
          <p:nvPr/>
        </p:nvSpPr>
        <p:spPr>
          <a:xfrm>
            <a:off x="6395209" y="4406937"/>
            <a:ext cx="22105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UE (User Equipment)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492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ucam_PowerPoint PPT_template_user_guide</Template>
  <TotalTime>707</TotalTime>
  <Words>675</Words>
  <Application>Microsoft Office PowerPoint</Application>
  <PresentationFormat>宽屏</PresentationFormat>
  <Paragraphs>103</Paragraphs>
  <Slides>10</Slides>
  <Notes>6</Notes>
  <HiddenSlides>2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MIMO Techniques in 5/6G</vt:lpstr>
      <vt:lpstr>Background &amp; Motivation</vt:lpstr>
      <vt:lpstr>3GPP</vt:lpstr>
      <vt:lpstr>Multiple-Input and Multiple-Output (MIMO)</vt:lpstr>
      <vt:lpstr>Key MIMO Factors</vt:lpstr>
      <vt:lpstr>Channel State Information (CSI)</vt:lpstr>
      <vt:lpstr>Goal</vt:lpstr>
      <vt:lpstr>Initial Result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Kaiyuan Bao</dc:creator>
  <cp:lastModifiedBy>Kaiyuan Bao</cp:lastModifiedBy>
  <cp:revision>554</cp:revision>
  <dcterms:created xsi:type="dcterms:W3CDTF">2025-11-16T20:07:29Z</dcterms:created>
  <dcterms:modified xsi:type="dcterms:W3CDTF">2025-11-27T23:42:02Z</dcterms:modified>
</cp:coreProperties>
</file>