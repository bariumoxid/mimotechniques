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68" r:id="rId4"/>
    <p:sldId id="269" r:id="rId5"/>
    <p:sldId id="276" r:id="rId6"/>
    <p:sldId id="280" r:id="rId7"/>
    <p:sldId id="278" r:id="rId8"/>
    <p:sldId id="279" r:id="rId9"/>
    <p:sldId id="272" r:id="rId1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3607" autoAdjust="0"/>
    <p:restoredTop sz="85446" autoAdjust="0"/>
  </p:normalViewPr>
  <p:slideViewPr>
    <p:cSldViewPr snapToGrid="0">
      <p:cViewPr>
        <p:scale>
          <a:sx n="75" d="100"/>
          <a:sy n="75" d="100"/>
        </p:scale>
        <p:origin x="323" y="8"/>
      </p:cViewPr>
      <p:guideLst/>
    </p:cSldViewPr>
  </p:slideViewPr>
  <p:notesTextViewPr>
    <p:cViewPr>
      <p:scale>
        <a:sx n="125" d="100"/>
        <a:sy n="125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8606AF6-307D-47B9-ACBB-BC18CBAA4992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55E27F9-5A8F-4462-9502-92BCFD99675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320627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5E27F9-5A8F-4462-9502-92BCFD996756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431198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5E27F9-5A8F-4462-9502-92BCFD996756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2040663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5E27F9-5A8F-4462-9502-92BCFD996756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8653270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F8323F-728A-06DB-BFFB-985D833C5C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39B66752-C3D5-BCA3-9CBF-BE085C68D2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4EED8C61-2871-917A-E503-941861DA41B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004B6F5-C882-AD48-EF2B-45797DBCA57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5E27F9-5A8F-4462-9502-92BCFD996756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7877563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3B2A08-25FC-7D85-79FD-40732D91E7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5FCB16A8-E03E-9353-7E0D-6279F5D3AF6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693A9820-879C-4B4F-3493-9E485AC527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E383CEE-E6EB-87A2-070C-F59B4C05AB5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5E27F9-5A8F-4462-9502-92BCFD996756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1706717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982EDF-4C00-2917-7DC2-B3903BF939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0B1EE65-508E-592F-C002-C66C24439D3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5572A46A-06B4-CF61-5AD2-E25180E3B69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078AC8B-27DB-4DF5-816C-7A10047448B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5E27F9-5A8F-4462-9502-92BCFD996756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3257410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1BFF66-08D4-9D35-EFB2-0C856E09DB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7FC0635-67DE-86F6-4EBA-3FFFEBE5E6D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60C2B23D-54E4-66D6-4D29-5BF42B56EA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2FD3C64-F810-A1AC-9561-E91449309F2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5E27F9-5A8F-4462-9502-92BCFD996756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932610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9CA8CE1-457A-16E4-9E30-5B65600ECE2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2BDB984B-71D5-CCCB-3EB1-A3A44976295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E1AD8F6-BD67-0DD2-90D1-F08951C982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EAEE67-AEBB-4C3E-8606-66E0CCE330BC}" type="datetime1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9FD6A90-5D59-597C-FA5A-699D224E48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32B431E-19E6-40E1-CFA6-5A165DE50E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B778F4-F869-49EC-876F-75AABD7B5BB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93094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8C70166-AF93-693A-E57A-1EFBA4DEFA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D58D6B0-811C-B7C6-2F99-628CE5FFA4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F1C2802-BD15-C92D-A1B3-D5561AEB86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84148F-81AF-4FEA-B300-8F5D116B0065}" type="datetime1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A1949C1-97BB-B4A6-B8BF-10C08B7BA6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99914B3-E2FB-CC19-1189-CE2C16272B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B778F4-F869-49EC-876F-75AABD7B5BB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040014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3EED012-CB52-B100-8EF6-677119B245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0D9ACA1-09E8-BEC5-BC1F-401C0ABF46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2431AC3-FD8A-DF0E-69EF-EFB3DE7BF8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F78377-656F-4268-940C-8B965F82C008}" type="datetime1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6B31711-9950-8832-74C2-D9CED9803C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87BBBEB-4483-E4B2-8680-106EBC4FDD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B778F4-F869-49EC-876F-75AABD7B5BB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288640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E3E800B-CFDB-590F-5B00-F3E92D514E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42E03F2-1601-3712-7249-2175C2B0C51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FADCA00-A6B7-78B4-BCE6-CAA06B0EC2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AB7012D-D48F-EF03-F910-7A15040214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BD275D-C9BD-4214-AE2B-8B828D17E4A1}" type="datetime1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6DF6902-20CE-E481-98DD-2E601ED9B5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7309122-0824-4904-696D-BFFBD9AECC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B778F4-F869-49EC-876F-75AABD7B5BB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396664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AA7A852-D77A-E25E-63C3-B7F89A23A7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07FAE66-64C4-5019-2A98-F7B1EBDD2C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C7EE675-C7E8-A3F1-125F-FDC4FD23EC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237CB9A5-1679-02CF-55E6-5867B70EF5C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D9987F53-3608-4D7E-1CA8-266438058CA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FAF922A9-E982-0AA9-7B1D-3D412D3036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38F12B-B1E4-4232-A921-5CD9E8C7CE78}" type="datetime1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5DE6B83B-FC74-C1FE-338D-1F0DD25CFA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09883820-FB54-E8E6-D14C-5E9CAE1AFB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B778F4-F869-49EC-876F-75AABD7B5BB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334898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A2F9DC7-D7BA-6DAE-2C8B-F2A4F5C84B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F7859467-AD61-04A5-E305-789C6DAB94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1519A9-016F-488A-9E38-2AAA80112BE2}" type="datetime1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8F6EF466-CA45-EBFA-8A50-34308FDBF7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43199BDD-A636-DC15-2591-1C9554C50B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B778F4-F869-49EC-876F-75AABD7B5BB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014228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5E9108F6-67F8-1AE5-3CB8-77F58D7B32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820205-1646-4F20-9432-DDA11DDF4BD6}" type="datetime1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097DFEBE-1CD8-DE23-A3D2-99B0B7E926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89AAA45-C8C6-06D7-AF98-6B36064752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B778F4-F869-49EC-876F-75AABD7B5BB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672852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AF907FE-3B4D-236F-C4BF-AE17E136AC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75D9868-48AD-0D7B-A5CD-59C97B9B0F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78E9BFC-6316-9378-707A-997A94CB9B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9B2AD31-42C1-A464-EDC4-FC0AB0FB01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0CA799-B4BA-4704-9B14-101D0629E8F1}" type="datetime1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BCABED9-50DF-2357-61DB-C03898BCAF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2BBB415-4763-DC2A-EC75-1DB5554A55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B778F4-F869-49EC-876F-75AABD7B5BB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856567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277C229-22A2-30EE-4BCE-8F455495F9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601AB0E1-9EB3-36A0-7FD1-9CD6B96EB16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C44A24B-E43C-DACF-BB60-71397A0BC17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B8DEE42-E661-D3FF-94C3-B053DEF6FC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B1D122-DFBC-43DE-ADA8-9D106F022C48}" type="datetime1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E7C900E-F651-6B16-C2B5-F69EECABAC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0BE5534-5A33-C3E6-2DBD-F987F67E16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B778F4-F869-49EC-876F-75AABD7B5BB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626596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189EA5A-6418-6BBF-EA99-F8D0EE6AF7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533D31B8-DD92-FE44-C3CA-D05E7F99C4F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59B032D-A025-4A57-84BE-EA1A827FAB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5A1467-0EF3-4859-99F5-7C80340788F3}" type="datetime1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4B33AC7-35DA-9B55-728B-5127DBB93F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B7A125C-E3F0-F430-72E4-F560CB012D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B778F4-F869-49EC-876F-75AABD7B5BB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598738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67BD9617-C2D3-B78C-3BC7-912B42349F0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A4E328F-817F-B80F-6DAD-EFAB7FF13FE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1B8BDBA-D969-379C-779A-600997FE18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B8481D-5FEA-402B-A96F-686498436F15}" type="datetime1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8805AE0-0B65-484D-EEFB-FD6F20211C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C17087A-51D2-1BCD-9FF8-24B31138BE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B778F4-F869-49EC-876F-75AABD7B5BB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799631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387CA369-F940-0770-B250-720E337451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F1DDB4F-B9F8-C19A-860C-668EE23269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91D2DF9-1380-29EA-DB18-942949F01DB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C2047AB-8171-468A-A15B-570A037DD4A0}" type="datetime1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592CF2A-53C8-2FDA-76EA-7C86A01728B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BBB4B3E-2C5F-C53C-EEE0-E79EA49B52D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5B778F4-F869-49EC-876F-75AABD7B5BB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417878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935E8B0-D76F-46D8-E962-C01D02425D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466491"/>
            <a:ext cx="9144000" cy="1857416"/>
          </a:xfrm>
        </p:spPr>
        <p:txBody>
          <a:bodyPr>
            <a:normAutofit/>
          </a:bodyPr>
          <a:lstStyle/>
          <a:p>
            <a:r>
              <a:rPr lang="en-US" altLang="zh-CN" sz="4000" b="1" dirty="0"/>
              <a:t>CSI-</a:t>
            </a:r>
            <a:r>
              <a:rPr lang="en-US" altLang="zh-CN" sz="4000" b="1" dirty="0" err="1"/>
              <a:t>Fesedback</a:t>
            </a:r>
            <a:r>
              <a:rPr lang="en-US" altLang="zh-CN" sz="4000" b="1" dirty="0"/>
              <a:t>-Driven Link Adaptation in 5G NR Downlink MIMO: A Link Level Simulation Study</a:t>
            </a:r>
            <a:endParaRPr lang="zh-CN" altLang="en-US" b="1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255361DB-9E63-62F4-82B6-5757B89752B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3778233"/>
            <a:ext cx="12192000" cy="1655762"/>
          </a:xfrm>
        </p:spPr>
        <p:txBody>
          <a:bodyPr>
            <a:normAutofit/>
          </a:bodyPr>
          <a:lstStyle/>
          <a:p>
            <a:r>
              <a:rPr lang="en-US" altLang="zh-CN" dirty="0"/>
              <a:t>MIMO Techniques in 5/6G (F-js851-3*)</a:t>
            </a:r>
          </a:p>
          <a:p>
            <a:r>
              <a:rPr lang="en-US" altLang="zh-CN" dirty="0"/>
              <a:t>Kaiyuan Bao (kb784)</a:t>
            </a:r>
          </a:p>
          <a:p>
            <a:r>
              <a:rPr lang="en-US" altLang="zh-CN" dirty="0"/>
              <a:t>Supervisor: Prof. Albert Guillen </a:t>
            </a:r>
            <a:r>
              <a:rPr lang="en-US" altLang="zh-CN" dirty="0" err="1"/>
              <a:t>i</a:t>
            </a:r>
            <a:r>
              <a:rPr lang="en-US" altLang="zh-CN" dirty="0"/>
              <a:t> Fabregas, </a:t>
            </a:r>
            <a:r>
              <a:rPr lang="en-GB" altLang="zh-CN" dirty="0"/>
              <a:t>Alexander Hamilton (Nokia)</a:t>
            </a:r>
            <a:endParaRPr lang="zh-CN" altLang="en-US" dirty="0"/>
          </a:p>
        </p:txBody>
      </p:sp>
      <p:pic>
        <p:nvPicPr>
          <p:cNvPr id="8" name="图片 7" descr="图片包含 游戏机, 画&#10;&#10;AI 生成的内容可能不正确。">
            <a:extLst>
              <a:ext uri="{FF2B5EF4-FFF2-40B4-BE49-F238E27FC236}">
                <a16:creationId xmlns:a16="http://schemas.microsoft.com/office/drawing/2014/main" id="{3691B591-5F3A-B635-147F-32AC11D83A0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350" y="67060"/>
            <a:ext cx="2770899" cy="576000"/>
          </a:xfrm>
          <a:prstGeom prst="rect">
            <a:avLst/>
          </a:prstGeom>
        </p:spPr>
      </p:pic>
      <p:pic>
        <p:nvPicPr>
          <p:cNvPr id="14" name="图片 13" descr="卡通画&#10;&#10;AI 生成的内容可能不正确。">
            <a:extLst>
              <a:ext uri="{FF2B5EF4-FFF2-40B4-BE49-F238E27FC236}">
                <a16:creationId xmlns:a16="http://schemas.microsoft.com/office/drawing/2014/main" id="{0DF37E2C-552B-8E79-60A3-8B47D72D2A5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347" r="6812" b="-6773"/>
          <a:stretch>
            <a:fillRect/>
          </a:stretch>
        </p:blipFill>
        <p:spPr>
          <a:xfrm>
            <a:off x="10495839" y="0"/>
            <a:ext cx="1696162" cy="8049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06812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C1FF6A1-5B32-7043-B7C3-2D8B86A9C5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4865" y="377422"/>
            <a:ext cx="11082270" cy="607230"/>
          </a:xfrm>
        </p:spPr>
        <p:txBody>
          <a:bodyPr>
            <a:normAutofit/>
          </a:bodyPr>
          <a:lstStyle/>
          <a:p>
            <a:r>
              <a:rPr lang="en-US" altLang="zh-CN" sz="3200" dirty="0">
                <a:latin typeface="Arial" panose="020B0604020202020204" pitchFamily="34" charset="0"/>
                <a:cs typeface="Arial" panose="020B0604020202020204" pitchFamily="34" charset="0"/>
              </a:rPr>
              <a:t>Project Objectives</a:t>
            </a:r>
            <a:endParaRPr lang="zh-CN" alt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8C4747E-D289-1B3A-35E7-C671D8866B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4865" y="1146220"/>
            <a:ext cx="11082270" cy="5030743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altLang="zh-CN" sz="1800" dirty="0">
                <a:latin typeface="Arial" panose="020B0604020202020204" pitchFamily="34" charset="0"/>
                <a:cs typeface="Arial" panose="020B0604020202020204" pitchFamily="34" charset="0"/>
              </a:rPr>
              <a:t>Construct a </a:t>
            </a:r>
            <a:r>
              <a:rPr lang="en-US" altLang="zh-CN" sz="18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3GPP-aligned</a:t>
            </a:r>
            <a:r>
              <a:rPr lang="en-US" altLang="zh-CN" sz="1800" dirty="0">
                <a:latin typeface="Arial" panose="020B0604020202020204" pitchFamily="34" charset="0"/>
                <a:cs typeface="Arial" panose="020B0604020202020204" pitchFamily="34" charset="0"/>
              </a:rPr>
              <a:t> MATLAB 5G NR downlink MIMO link-level simulation model</a:t>
            </a:r>
          </a:p>
          <a:p>
            <a:pPr>
              <a:lnSpc>
                <a:spcPct val="150000"/>
              </a:lnSpc>
            </a:pPr>
            <a:r>
              <a:rPr lang="en-US" altLang="zh-CN" sz="1800" dirty="0">
                <a:latin typeface="Arial" panose="020B0604020202020204" pitchFamily="34" charset="0"/>
                <a:cs typeface="Arial" panose="020B0604020202020204" pitchFamily="34" charset="0"/>
              </a:rPr>
              <a:t>Study how </a:t>
            </a:r>
            <a:r>
              <a:rPr lang="en-US" altLang="zh-CN" sz="18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CSI feedback </a:t>
            </a:r>
            <a:r>
              <a:rPr lang="en-US" altLang="zh-CN" sz="1800" dirty="0">
                <a:latin typeface="Arial" panose="020B0604020202020204" pitchFamily="34" charset="0"/>
                <a:cs typeface="Arial" panose="020B0604020202020204" pitchFamily="34" charset="0"/>
              </a:rPr>
              <a:t>affects </a:t>
            </a:r>
            <a:r>
              <a:rPr lang="en-US" altLang="zh-CN" sz="18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rank</a:t>
            </a:r>
            <a:r>
              <a:rPr lang="en-US" altLang="zh-CN" sz="18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altLang="zh-CN" sz="18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precoding</a:t>
            </a:r>
            <a:r>
              <a:rPr lang="en-US" altLang="zh-CN" sz="1800" dirty="0">
                <a:latin typeface="Arial" panose="020B0604020202020204" pitchFamily="34" charset="0"/>
                <a:cs typeface="Arial" panose="020B0604020202020204" pitchFamily="34" charset="0"/>
              </a:rPr>
              <a:t>, and </a:t>
            </a:r>
            <a:r>
              <a:rPr lang="en-US" altLang="zh-CN" sz="18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MCS</a:t>
            </a:r>
            <a:r>
              <a:rPr lang="en-US" altLang="zh-CN" sz="1800" dirty="0">
                <a:latin typeface="Arial" panose="020B0604020202020204" pitchFamily="34" charset="0"/>
                <a:cs typeface="Arial" panose="020B0604020202020204" pitchFamily="34" charset="0"/>
              </a:rPr>
              <a:t> selection</a:t>
            </a:r>
          </a:p>
          <a:p>
            <a:pPr>
              <a:lnSpc>
                <a:spcPct val="150000"/>
              </a:lnSpc>
            </a:pPr>
            <a:r>
              <a:rPr lang="en-US" altLang="zh-CN" sz="1800" dirty="0">
                <a:latin typeface="Arial" panose="020B0604020202020204" pitchFamily="34" charset="0"/>
                <a:cs typeface="Arial" panose="020B0604020202020204" pitchFamily="34" charset="0"/>
              </a:rPr>
              <a:t>Evaluate throughput under different </a:t>
            </a:r>
            <a:r>
              <a:rPr lang="en-US" altLang="zh-CN" sz="18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MIMO configurations</a:t>
            </a:r>
            <a:r>
              <a:rPr lang="en-US" altLang="zh-CN" sz="18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altLang="zh-CN" sz="18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mobility levels</a:t>
            </a:r>
            <a:r>
              <a:rPr lang="en-US" altLang="zh-CN" sz="1800" dirty="0">
                <a:latin typeface="Arial" panose="020B0604020202020204" pitchFamily="34" charset="0"/>
                <a:cs typeface="Arial" panose="020B0604020202020204" pitchFamily="34" charset="0"/>
              </a:rPr>
              <a:t>, and </a:t>
            </a:r>
            <a:r>
              <a:rPr lang="en-US" altLang="zh-CN" sz="18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CSI reporting periods</a:t>
            </a:r>
          </a:p>
          <a:p>
            <a:pPr>
              <a:lnSpc>
                <a:spcPct val="150000"/>
              </a:lnSpc>
            </a:pPr>
            <a:r>
              <a:rPr lang="en-US" altLang="zh-CN" sz="1800" dirty="0">
                <a:latin typeface="Arial" panose="020B0604020202020204" pitchFamily="34" charset="0"/>
                <a:cs typeface="Arial" panose="020B0604020202020204" pitchFamily="34" charset="0"/>
              </a:rPr>
              <a:t>Identify the </a:t>
            </a:r>
            <a:r>
              <a:rPr lang="en-US" altLang="zh-CN" sz="18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trade-off</a:t>
            </a:r>
            <a:r>
              <a:rPr lang="en-US" altLang="zh-CN" sz="1800" dirty="0">
                <a:latin typeface="Arial" panose="020B0604020202020204" pitchFamily="34" charset="0"/>
                <a:cs typeface="Arial" panose="020B0604020202020204" pitchFamily="34" charset="0"/>
              </a:rPr>
              <a:t> between CSI freshness, throughput gain, and feedback overhead</a:t>
            </a:r>
          </a:p>
          <a:p>
            <a:pPr>
              <a:lnSpc>
                <a:spcPct val="150000"/>
              </a:lnSpc>
            </a:pPr>
            <a:r>
              <a:rPr lang="en-US" altLang="zh-CN" sz="1800" dirty="0">
                <a:latin typeface="Arial" panose="020B0604020202020204" pitchFamily="34" charset="0"/>
                <a:cs typeface="Arial" panose="020B0604020202020204" pitchFamily="34" charset="0"/>
              </a:rPr>
              <a:t>Provide insight for future 5/6G </a:t>
            </a:r>
            <a:r>
              <a:rPr lang="en-US" altLang="zh-CN" sz="18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adaptive CSI reporting </a:t>
            </a:r>
            <a:r>
              <a:rPr lang="en-US" altLang="zh-CN" sz="1800" dirty="0">
                <a:latin typeface="Arial" panose="020B0604020202020204" pitchFamily="34" charset="0"/>
                <a:cs typeface="Arial" panose="020B0604020202020204" pitchFamily="34" charset="0"/>
              </a:rPr>
              <a:t>design</a:t>
            </a:r>
            <a:endParaRPr lang="zh-CN" alt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2298A1E4-49AF-6477-7C1D-7193789D63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3026535" cy="365125"/>
          </a:xfrm>
        </p:spPr>
        <p:txBody>
          <a:bodyPr/>
          <a:lstStyle/>
          <a:p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MIMO Techniques in 5/6G</a:t>
            </a:r>
            <a:r>
              <a:rPr lang="zh-CN" altLang="en-US" dirty="0">
                <a:latin typeface="Arial" panose="020B0604020202020204" pitchFamily="34" charset="0"/>
                <a:cs typeface="Arial" panose="020B0604020202020204" pitchFamily="34" charset="0"/>
              </a:rPr>
              <a:t>     </a:t>
            </a:r>
            <a:fld id="{95B778F4-F869-49EC-876F-75AABD7B5BBF}" type="slidenum">
              <a:rPr lang="zh-CN" altLang="en-US" smtClean="0">
                <a:latin typeface="Arial" panose="020B0604020202020204" pitchFamily="34" charset="0"/>
                <a:cs typeface="Arial" panose="020B0604020202020204" pitchFamily="34" charset="0"/>
              </a:rPr>
              <a:t>2</a:t>
            </a:fld>
            <a:endParaRPr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371834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9F7BEB-F6F8-7C40-C35F-27D2FC144B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D4AA7DC2-AF3F-DDBF-A461-306E1CBAAC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62524" y="3683358"/>
            <a:ext cx="6066949" cy="2287704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D1811416-A87A-4A1A-4165-64AF60DEC2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4865" y="377422"/>
            <a:ext cx="11082270" cy="607230"/>
          </a:xfrm>
        </p:spPr>
        <p:txBody>
          <a:bodyPr>
            <a:normAutofit/>
          </a:bodyPr>
          <a:lstStyle/>
          <a:p>
            <a:r>
              <a:rPr lang="en-US" altLang="zh-CN" sz="3200" dirty="0">
                <a:latin typeface="Arial" panose="020B0604020202020204" pitchFamily="34" charset="0"/>
                <a:cs typeface="Arial" panose="020B0604020202020204" pitchFamily="34" charset="0"/>
              </a:rPr>
              <a:t>Channel State Information (CSI)</a:t>
            </a:r>
            <a:endParaRPr lang="zh-CN" alt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7B67127-22D4-A5C0-F66C-948249928F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4865" y="1146220"/>
            <a:ext cx="11082270" cy="3205647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altLang="zh-CN" sz="1800" dirty="0">
                <a:latin typeface="Arial" panose="020B0604020202020204" pitchFamily="34" charset="0"/>
                <a:cs typeface="Arial" panose="020B0604020202020204" pitchFamily="34" charset="0"/>
              </a:rPr>
              <a:t>UE estimates the downlink channel using </a:t>
            </a:r>
            <a:r>
              <a:rPr lang="en-US" altLang="zh-CN" sz="18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CSI-RS</a:t>
            </a:r>
            <a:r>
              <a:rPr lang="en-US" altLang="zh-CN" sz="1800" dirty="0">
                <a:latin typeface="Arial" panose="020B0604020202020204" pitchFamily="34" charset="0"/>
                <a:cs typeface="Arial" panose="020B0604020202020204" pitchFamily="34" charset="0"/>
              </a:rPr>
              <a:t> and reports </a:t>
            </a:r>
            <a:r>
              <a:rPr lang="en-US" altLang="zh-CN" sz="18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CSI</a:t>
            </a:r>
            <a:r>
              <a:rPr lang="en-US" altLang="zh-CN" sz="1800" dirty="0">
                <a:latin typeface="Arial" panose="020B0604020202020204" pitchFamily="34" charset="0"/>
                <a:cs typeface="Arial" panose="020B0604020202020204" pitchFamily="34" charset="0"/>
              </a:rPr>
              <a:t> to the gNB</a:t>
            </a:r>
          </a:p>
          <a:p>
            <a:pPr>
              <a:lnSpc>
                <a:spcPct val="150000"/>
              </a:lnSpc>
            </a:pPr>
            <a:r>
              <a:rPr lang="en-US" altLang="zh-CN" sz="1800" dirty="0">
                <a:latin typeface="Arial" panose="020B0604020202020204" pitchFamily="34" charset="0"/>
                <a:cs typeface="Arial" panose="020B0604020202020204" pitchFamily="34" charset="0"/>
              </a:rPr>
              <a:t>CSI feedback supports link adaptation:</a:t>
            </a:r>
          </a:p>
          <a:p>
            <a:pPr lvl="1">
              <a:lnSpc>
                <a:spcPct val="150000"/>
              </a:lnSpc>
              <a:buClr>
                <a:schemeClr val="tx1"/>
              </a:buClr>
            </a:pPr>
            <a:r>
              <a:rPr lang="en-US" altLang="zh-CN" sz="18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Precoder Matrix Indicator (PMI): </a:t>
            </a:r>
            <a:r>
              <a:rPr lang="en-US" altLang="zh-CN" sz="1800" dirty="0">
                <a:latin typeface="Arial" panose="020B0604020202020204" pitchFamily="34" charset="0"/>
                <a:cs typeface="Arial" panose="020B0604020202020204" pitchFamily="34" charset="0"/>
              </a:rPr>
              <a:t>preferred precoding matrix</a:t>
            </a:r>
          </a:p>
          <a:p>
            <a:pPr lvl="1">
              <a:lnSpc>
                <a:spcPct val="150000"/>
              </a:lnSpc>
              <a:buClr>
                <a:schemeClr val="tx1"/>
              </a:buClr>
            </a:pPr>
            <a:r>
              <a:rPr lang="en-US" altLang="zh-CN" sz="18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Rank Indicator (RI):</a:t>
            </a:r>
            <a:r>
              <a:rPr lang="en-US" altLang="zh-CN" sz="1800" dirty="0">
                <a:latin typeface="Arial" panose="020B0604020202020204" pitchFamily="34" charset="0"/>
                <a:cs typeface="Arial" panose="020B0604020202020204" pitchFamily="34" charset="0"/>
              </a:rPr>
              <a:t> recommended number of layers (rank)</a:t>
            </a:r>
          </a:p>
          <a:p>
            <a:pPr lvl="1">
              <a:lnSpc>
                <a:spcPct val="150000"/>
              </a:lnSpc>
              <a:buClr>
                <a:schemeClr val="tx1"/>
              </a:buClr>
            </a:pPr>
            <a:r>
              <a:rPr lang="en-US" altLang="zh-CN" sz="18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Channel Quality Indicator (CQI):</a:t>
            </a:r>
            <a:r>
              <a:rPr lang="en-US" altLang="zh-CN" sz="1800" dirty="0">
                <a:latin typeface="Arial" panose="020B0604020202020204" pitchFamily="34" charset="0"/>
                <a:cs typeface="Arial" panose="020B0604020202020204" pitchFamily="34" charset="0"/>
              </a:rPr>
              <a:t> recommended modulation and coding</a:t>
            </a:r>
          </a:p>
          <a:p>
            <a:pPr marL="0" indent="0">
              <a:buNone/>
            </a:pPr>
            <a:endParaRPr lang="zh-CN" alt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0A4809AF-1C89-B1D2-8EF9-D816F52DC5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54865" y="6356350"/>
            <a:ext cx="11082270" cy="365125"/>
          </a:xfrm>
        </p:spPr>
        <p:txBody>
          <a:bodyPr/>
          <a:lstStyle/>
          <a:p>
            <a:pPr algn="l"/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Source: The Next Generation Wireless Access Technology</a:t>
            </a:r>
            <a:endParaRPr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22B6B49A-130B-935C-8172-075C5AB169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599" y="6356350"/>
            <a:ext cx="3026535" cy="365125"/>
          </a:xfrm>
        </p:spPr>
        <p:txBody>
          <a:bodyPr/>
          <a:lstStyle/>
          <a:p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MIMO Techniques in 5/6G</a:t>
            </a:r>
            <a:r>
              <a:rPr lang="zh-CN" altLang="en-US" dirty="0">
                <a:latin typeface="Arial" panose="020B0604020202020204" pitchFamily="34" charset="0"/>
                <a:cs typeface="Arial" panose="020B0604020202020204" pitchFamily="34" charset="0"/>
              </a:rPr>
              <a:t>     </a:t>
            </a:r>
            <a:fld id="{95B778F4-F869-49EC-876F-75AABD7B5BBF}" type="slidenum">
              <a:rPr lang="zh-CN" altLang="en-US" smtClean="0">
                <a:latin typeface="Arial" panose="020B0604020202020204" pitchFamily="34" charset="0"/>
                <a:cs typeface="Arial" panose="020B0604020202020204" pitchFamily="34" charset="0"/>
              </a:rPr>
              <a:t>3</a:t>
            </a:fld>
            <a:endParaRPr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BD9B5D6D-8A2E-236F-A58D-283E7AFCC984}"/>
              </a:ext>
            </a:extLst>
          </p:cNvPr>
          <p:cNvSpPr txBox="1"/>
          <p:nvPr/>
        </p:nvSpPr>
        <p:spPr>
          <a:xfrm>
            <a:off x="3073879" y="6012441"/>
            <a:ext cx="604424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400" dirty="0">
                <a:latin typeface="Arial" panose="020B0604020202020204" pitchFamily="34" charset="0"/>
                <a:cs typeface="Arial" panose="020B0604020202020204" pitchFamily="34" charset="0"/>
              </a:rPr>
              <a:t>Figure 1: CSI reporting and downlink transmission</a:t>
            </a:r>
            <a:endParaRPr lang="zh-CN" alt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540762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F4380B-FB44-E067-22EA-94FA43955D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CEEFE5A-68F0-A94B-704D-15F4E2EDA1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4865" y="377422"/>
            <a:ext cx="11082270" cy="607230"/>
          </a:xfrm>
        </p:spPr>
        <p:txBody>
          <a:bodyPr>
            <a:normAutofit/>
          </a:bodyPr>
          <a:lstStyle/>
          <a:p>
            <a:r>
              <a:rPr lang="en-US" altLang="zh-CN" sz="3200" dirty="0">
                <a:latin typeface="Arial" panose="020B0604020202020204" pitchFamily="34" charset="0"/>
                <a:cs typeface="Arial" panose="020B0604020202020204" pitchFamily="34" charset="0"/>
              </a:rPr>
              <a:t>Simulation Framework</a:t>
            </a:r>
            <a:endParaRPr lang="zh-CN" alt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C3A1099-FFCC-5B98-467C-C081001A2C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54865" y="6356350"/>
            <a:ext cx="11082270" cy="365125"/>
          </a:xfrm>
        </p:spPr>
        <p:txBody>
          <a:bodyPr/>
          <a:lstStyle/>
          <a:p>
            <a:pPr algn="l"/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Source: MATLAB NR PDSCH Throughput Using Channel State Information Feedback</a:t>
            </a:r>
            <a:endParaRPr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23B1A9A6-53E3-CFED-69C9-7A5F948496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599" y="6356350"/>
            <a:ext cx="3026535" cy="365125"/>
          </a:xfrm>
        </p:spPr>
        <p:txBody>
          <a:bodyPr/>
          <a:lstStyle/>
          <a:p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MIMO Techniques in 5/6G     </a:t>
            </a:r>
            <a:fld id="{95B778F4-F869-49EC-876F-75AABD7B5BBF}" type="slidenum">
              <a:rPr lang="zh-CN" altLang="en-US" smtClean="0">
                <a:latin typeface="Arial" panose="020B0604020202020204" pitchFamily="34" charset="0"/>
                <a:cs typeface="Arial" panose="020B0604020202020204" pitchFamily="34" charset="0"/>
              </a:rPr>
              <a:t>4</a:t>
            </a:fld>
            <a:endParaRPr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84534A41-BAFA-A82D-90E4-2FC5EA7BC6D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944" r="1350"/>
          <a:stretch>
            <a:fillRect/>
          </a:stretch>
        </p:blipFill>
        <p:spPr>
          <a:xfrm>
            <a:off x="946030" y="899785"/>
            <a:ext cx="10299939" cy="3020229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B441B10E-B056-0C9E-E818-D17BCAD0297F}"/>
              </a:ext>
            </a:extLst>
          </p:cNvPr>
          <p:cNvSpPr txBox="1"/>
          <p:nvPr/>
        </p:nvSpPr>
        <p:spPr>
          <a:xfrm>
            <a:off x="554865" y="4275111"/>
            <a:ext cx="11132712" cy="17030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800" dirty="0">
                <a:latin typeface="Arial" panose="020B0604020202020204" pitchFamily="34" charset="0"/>
                <a:cs typeface="Arial" panose="020B0604020202020204" pitchFamily="34" charset="0"/>
              </a:rPr>
              <a:t>CSI based feedback with adaptive RI / PMI / CQI</a:t>
            </a:r>
          </a:p>
          <a:p>
            <a:pPr marL="285750" indent="-285750">
              <a:lnSpc>
                <a:spcPct val="150000"/>
              </a:lnSpc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altLang="zh-CN" sz="18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Baseline</a:t>
            </a:r>
            <a:r>
              <a:rPr lang="en-US" altLang="zh-CN" sz="1800" dirty="0">
                <a:latin typeface="Arial" panose="020B0604020202020204" pitchFamily="34" charset="0"/>
                <a:cs typeface="Arial" panose="020B0604020202020204" pitchFamily="34" charset="0"/>
              </a:rPr>
              <a:t>: 3.5 GHz, 40 MHz BW, 30 kHz SCS, 4Tx 4Rx, CDL-C channel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Performance metric: delivered PDSCH </a:t>
            </a:r>
            <a:r>
              <a:rPr lang="en-US" altLang="zh-CN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throughput in Mbps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SNR range: -5 to 25 dB, with 1</a:t>
            </a:r>
            <a:r>
              <a:rPr lang="fr-FR" altLang="zh-CN" dirty="0">
                <a:latin typeface="Arial" panose="020B0604020202020204" pitchFamily="34" charset="0"/>
                <a:cs typeface="Arial" panose="020B0604020202020204" pitchFamily="34" charset="0"/>
              </a:rPr>
              <a:t>500 10-ms frames per SNR point</a:t>
            </a:r>
            <a:endParaRPr lang="en-US" altLang="zh-CN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5A54DFC8-F30F-7A57-6700-FF7C264870FC}"/>
              </a:ext>
            </a:extLst>
          </p:cNvPr>
          <p:cNvSpPr txBox="1"/>
          <p:nvPr/>
        </p:nvSpPr>
        <p:spPr>
          <a:xfrm>
            <a:off x="2427110" y="3895864"/>
            <a:ext cx="733777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400" dirty="0">
                <a:latin typeface="Arial" panose="020B0604020202020204" pitchFamily="34" charset="0"/>
                <a:cs typeface="Arial" panose="020B0604020202020204" pitchFamily="34" charset="0"/>
              </a:rPr>
              <a:t>Figure 2:  Overview of the CSI-based downlink transmission and feedback framework</a:t>
            </a:r>
            <a:endParaRPr lang="zh-CN" alt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614029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C6D41DBE-E6F1-A7F9-87A8-1617BC2AEE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A88CE7B-2B6D-DE62-CD3A-7ACC53CEA6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4865" y="377422"/>
            <a:ext cx="11082270" cy="607230"/>
          </a:xfrm>
        </p:spPr>
        <p:txBody>
          <a:bodyPr>
            <a:normAutofit/>
          </a:bodyPr>
          <a:lstStyle/>
          <a:p>
            <a:r>
              <a:rPr lang="en-US" altLang="zh-CN" sz="3200" dirty="0">
                <a:latin typeface="Arial" panose="020B0604020202020204" pitchFamily="34" charset="0"/>
                <a:cs typeface="Arial" panose="020B0604020202020204" pitchFamily="34" charset="0"/>
              </a:rPr>
              <a:t>Impact of Mobility on Throughput</a:t>
            </a:r>
            <a:endParaRPr lang="zh-CN" alt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F87DF3FE-A14E-DEB3-C3FB-39A5F5FDED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599" y="6356350"/>
            <a:ext cx="3026535" cy="365125"/>
          </a:xfrm>
        </p:spPr>
        <p:txBody>
          <a:bodyPr/>
          <a:lstStyle/>
          <a:p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MIMO Techniques in 5/6G     </a:t>
            </a:r>
            <a:fld id="{95B778F4-F869-49EC-876F-75AABD7B5BBF}" type="slidenum">
              <a:rPr lang="zh-CN" altLang="en-US" smtClean="0">
                <a:latin typeface="Arial" panose="020B0604020202020204" pitchFamily="34" charset="0"/>
                <a:cs typeface="Arial" panose="020B0604020202020204" pitchFamily="34" charset="0"/>
              </a:rPr>
              <a:t>5</a:t>
            </a:fld>
            <a:endParaRPr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57BF2F6F-5BF3-CCE1-CB77-B9A6F742E7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980" y="1807440"/>
            <a:ext cx="6850631" cy="3726122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8" name="内容占位符 2">
                <a:extLst>
                  <a:ext uri="{FF2B5EF4-FFF2-40B4-BE49-F238E27FC236}">
                    <a16:creationId xmlns:a16="http://schemas.microsoft.com/office/drawing/2014/main" id="{6658FA91-B15A-A06E-ACBD-12C654A9127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812924" y="1901987"/>
                <a:ext cx="5306096" cy="3681005"/>
              </a:xfrm>
            </p:spPr>
            <p:txBody>
              <a:bodyPr>
                <a:normAutofit/>
              </a:bodyPr>
              <a:lstStyle/>
              <a:p>
                <a:pPr>
                  <a:lnSpc>
                    <a:spcPct val="150000"/>
                  </a:lnSpc>
                  <a:buClr>
                    <a:schemeClr val="tx1"/>
                  </a:buClr>
                </a:pPr>
                <a:r>
                  <a:rPr lang="en-US" altLang="zh-CN" sz="1800" dirty="0">
                    <a:latin typeface="Arial" panose="020B0604020202020204" pitchFamily="34" charset="0"/>
                    <a:cs typeface="Arial" panose="020B0604020202020204" pitchFamily="34" charset="0"/>
                  </a:rPr>
                  <a:t>10 / 100 / 390 Hz </a:t>
                </a:r>
                <a14:m>
                  <m:oMath xmlns:m="http://schemas.openxmlformats.org/officeDocument/2006/math">
                    <m:r>
                      <a:rPr lang="en-US" altLang="zh-CN" sz="1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≈</m:t>
                    </m:r>
                  </m:oMath>
                </a14:m>
                <a:r>
                  <a:rPr lang="en-US" altLang="zh-CN" sz="1800" dirty="0">
                    <a:latin typeface="Arial" panose="020B0604020202020204" pitchFamily="34" charset="0"/>
                    <a:cs typeface="Arial" panose="020B0604020202020204" pitchFamily="34" charset="0"/>
                  </a:rPr>
                  <a:t> 3 / 30 / 120 km/h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altLang="zh-CN" sz="1800" dirty="0">
                    <a:latin typeface="Arial" panose="020B0604020202020204" pitchFamily="34" charset="0"/>
                    <a:cs typeface="Arial" panose="020B0604020202020204" pitchFamily="34" charset="0"/>
                  </a:rPr>
                  <a:t>Higher mobility shifts the throughput curve to the right</a:t>
                </a:r>
              </a:p>
              <a:p>
                <a:pPr>
                  <a:lnSpc>
                    <a:spcPct val="150000"/>
                  </a:lnSpc>
                  <a:buClr>
                    <a:schemeClr val="tx1"/>
                  </a:buClr>
                </a:pPr>
                <a:r>
                  <a:rPr lang="en-US" altLang="zh-CN" sz="1800" dirty="0">
                    <a:solidFill>
                      <a:srgbClr val="0070C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Faster channel variation </a:t>
                </a:r>
                <a:r>
                  <a:rPr lang="en-US" altLang="zh-CN" sz="1800" dirty="0">
                    <a:latin typeface="Arial" panose="020B0604020202020204" pitchFamily="34" charset="0"/>
                    <a:cs typeface="Arial" panose="020B0604020202020204" pitchFamily="34" charset="0"/>
                  </a:rPr>
                  <a:t>can make CSI less representative at transmission time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altLang="zh-CN" sz="1800" dirty="0">
                    <a:latin typeface="Arial" panose="020B0604020202020204" pitchFamily="34" charset="0"/>
                    <a:cs typeface="Arial" panose="020B0604020202020204" pitchFamily="34" charset="0"/>
                  </a:rPr>
                  <a:t>80 Mbps requires 7.7 / 8.9 / 10.5 dB respectively</a:t>
                </a:r>
              </a:p>
              <a:p>
                <a:endParaRPr lang="zh-CN" altLang="en-US" sz="2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8" name="内容占位符 2">
                <a:extLst>
                  <a:ext uri="{FF2B5EF4-FFF2-40B4-BE49-F238E27FC236}">
                    <a16:creationId xmlns:a16="http://schemas.microsoft.com/office/drawing/2014/main" id="{6658FA91-B15A-A06E-ACBD-12C654A9127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812924" y="1901987"/>
                <a:ext cx="5306096" cy="3681005"/>
              </a:xfrm>
              <a:blipFill>
                <a:blip r:embed="rId4"/>
                <a:stretch>
                  <a:fillRect l="-80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文本框 2">
            <a:extLst>
              <a:ext uri="{FF2B5EF4-FFF2-40B4-BE49-F238E27FC236}">
                <a16:creationId xmlns:a16="http://schemas.microsoft.com/office/drawing/2014/main" id="{D17D5804-6B49-DB99-264E-CBE04DE9D484}"/>
              </a:ext>
            </a:extLst>
          </p:cNvPr>
          <p:cNvSpPr txBox="1"/>
          <p:nvPr/>
        </p:nvSpPr>
        <p:spPr>
          <a:xfrm>
            <a:off x="1060689" y="5483290"/>
            <a:ext cx="487521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400" dirty="0">
                <a:latin typeface="Arial" panose="020B0604020202020204" pitchFamily="34" charset="0"/>
                <a:cs typeface="Arial" panose="020B0604020202020204" pitchFamily="34" charset="0"/>
              </a:rPr>
              <a:t>Figure 3:  Throughput vs SNR under different Doppler shifts</a:t>
            </a:r>
            <a:endParaRPr lang="zh-CN" alt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248409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2A20DB-4E70-201D-943C-C88079E9EE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680CB3E-5CD4-FC3B-40CE-E42A67849E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4865" y="377422"/>
            <a:ext cx="11082270" cy="607230"/>
          </a:xfrm>
        </p:spPr>
        <p:txBody>
          <a:bodyPr>
            <a:normAutofit/>
          </a:bodyPr>
          <a:lstStyle/>
          <a:p>
            <a:r>
              <a:rPr lang="en-US" altLang="zh-CN" sz="3200" dirty="0">
                <a:latin typeface="Arial" panose="020B0604020202020204" pitchFamily="34" charset="0"/>
                <a:cs typeface="Arial" panose="020B0604020202020204" pitchFamily="34" charset="0"/>
              </a:rPr>
              <a:t>Baseline Link Adaptation</a:t>
            </a:r>
            <a:endParaRPr lang="zh-CN" alt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E73DD59-7444-BA95-A818-A6FA9A53EF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599" y="6356350"/>
            <a:ext cx="3026535" cy="365125"/>
          </a:xfrm>
        </p:spPr>
        <p:txBody>
          <a:bodyPr/>
          <a:lstStyle/>
          <a:p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MIMO Techniques in 5/6G     </a:t>
            </a:r>
            <a:fld id="{95B778F4-F869-49EC-876F-75AABD7B5BBF}" type="slidenum">
              <a:rPr lang="zh-CN" altLang="en-US" smtClean="0">
                <a:latin typeface="Arial" panose="020B0604020202020204" pitchFamily="34" charset="0"/>
                <a:cs typeface="Arial" panose="020B0604020202020204" pitchFamily="34" charset="0"/>
              </a:rPr>
              <a:t>6</a:t>
            </a:fld>
            <a:endParaRPr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90CDD9EE-1848-5023-CA65-68B3C5A0F2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0942" y="984652"/>
            <a:ext cx="9180350" cy="5248723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A91B3358-24C7-5D47-E89F-D91A6B15FE1C}"/>
              </a:ext>
            </a:extLst>
          </p:cNvPr>
          <p:cNvSpPr txBox="1"/>
          <p:nvPr/>
        </p:nvSpPr>
        <p:spPr>
          <a:xfrm>
            <a:off x="3263511" y="6172801"/>
            <a:ext cx="487521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400" dirty="0">
                <a:latin typeface="Arial" panose="020B0604020202020204" pitchFamily="34" charset="0"/>
                <a:cs typeface="Arial" panose="020B0604020202020204" pitchFamily="34" charset="0"/>
              </a:rPr>
              <a:t>Figure 3:  CSI-driven link adaptation </a:t>
            </a:r>
            <a:r>
              <a:rPr lang="en-US" altLang="zh-CN" sz="1400" dirty="0" err="1">
                <a:latin typeface="Arial" panose="020B0604020202020204" pitchFamily="34" charset="0"/>
                <a:cs typeface="Arial" panose="020B0604020202020204" pitchFamily="34" charset="0"/>
              </a:rPr>
              <a:t>behaviour</a:t>
            </a:r>
            <a:r>
              <a:rPr lang="en-US" altLang="zh-CN" sz="1400" dirty="0">
                <a:latin typeface="Arial" panose="020B0604020202020204" pitchFamily="34" charset="0"/>
                <a:cs typeface="Arial" panose="020B0604020202020204" pitchFamily="34" charset="0"/>
              </a:rPr>
              <a:t> across SNR</a:t>
            </a:r>
            <a:endParaRPr lang="zh-CN" alt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737294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601B16-EE68-09D0-7C57-A8CCF77BA3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1E24783-486D-2923-D66A-FA5A73D1DA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4865" y="377422"/>
            <a:ext cx="11082270" cy="607230"/>
          </a:xfrm>
        </p:spPr>
        <p:txBody>
          <a:bodyPr>
            <a:normAutofit/>
          </a:bodyPr>
          <a:lstStyle/>
          <a:p>
            <a:r>
              <a:rPr lang="en-US" altLang="zh-CN" sz="3200" dirty="0">
                <a:latin typeface="Arial" panose="020B0604020202020204" pitchFamily="34" charset="0"/>
                <a:cs typeface="Arial" panose="020B0604020202020204" pitchFamily="34" charset="0"/>
              </a:rPr>
              <a:t>CSI Reporting Periodicity</a:t>
            </a:r>
            <a:endParaRPr lang="zh-CN" alt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AA400AA7-8656-DE97-BDE2-14A17D165E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54865" y="6356350"/>
            <a:ext cx="11082270" cy="365125"/>
          </a:xfrm>
        </p:spPr>
        <p:txBody>
          <a:bodyPr/>
          <a:lstStyle/>
          <a:p>
            <a:pPr algn="l"/>
            <a:endParaRPr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A624365-6944-5A89-9BBD-8A08E62953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599" y="6356350"/>
            <a:ext cx="3026535" cy="365125"/>
          </a:xfrm>
        </p:spPr>
        <p:txBody>
          <a:bodyPr/>
          <a:lstStyle/>
          <a:p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MIMO Techniques in 5/6G     </a:t>
            </a:r>
            <a:fld id="{95B778F4-F869-49EC-876F-75AABD7B5BBF}" type="slidenum">
              <a:rPr lang="zh-CN" altLang="en-US" smtClean="0">
                <a:latin typeface="Arial" panose="020B0604020202020204" pitchFamily="34" charset="0"/>
                <a:cs typeface="Arial" panose="020B0604020202020204" pitchFamily="34" charset="0"/>
              </a:rPr>
              <a:t>7</a:t>
            </a:fld>
            <a:endParaRPr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6466A5D5-B6BF-FC2E-FEE6-B485F053C5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3563" y="1031175"/>
            <a:ext cx="9630328" cy="5325175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B89FC807-3165-C39D-8703-41CA4F24659C}"/>
              </a:ext>
            </a:extLst>
          </p:cNvPr>
          <p:cNvSpPr txBox="1"/>
          <p:nvPr/>
        </p:nvSpPr>
        <p:spPr>
          <a:xfrm>
            <a:off x="1280836" y="6309827"/>
            <a:ext cx="963032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400" dirty="0">
                <a:latin typeface="Arial" panose="020B0604020202020204" pitchFamily="34" charset="0"/>
                <a:cs typeface="Arial" panose="020B0604020202020204" pitchFamily="34" charset="0"/>
              </a:rPr>
              <a:t>Figure 4:  Downlink throughput performance under different CSI reporting periods</a:t>
            </a:r>
            <a:endParaRPr lang="zh-CN" alt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993033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3A3E98-5DBF-BC03-3769-A5E97FA702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9B63D06-D3AB-9D4C-4ABA-6AC83B9E9D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4865" y="377422"/>
            <a:ext cx="11082270" cy="607230"/>
          </a:xfrm>
        </p:spPr>
        <p:txBody>
          <a:bodyPr>
            <a:normAutofit/>
          </a:bodyPr>
          <a:lstStyle/>
          <a:p>
            <a:r>
              <a:rPr lang="en-US" altLang="zh-CN" sz="3200" dirty="0">
                <a:latin typeface="Arial" panose="020B0604020202020204" pitchFamily="34" charset="0"/>
                <a:cs typeface="Arial" panose="020B0604020202020204" pitchFamily="34" charset="0"/>
              </a:rPr>
              <a:t>Contributions and Future Work</a:t>
            </a:r>
            <a:endParaRPr lang="zh-CN" alt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8FBDDDE6-3314-C65A-5E07-6265FD29BD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54865" y="6356350"/>
            <a:ext cx="11082270" cy="365125"/>
          </a:xfrm>
        </p:spPr>
        <p:txBody>
          <a:bodyPr/>
          <a:lstStyle/>
          <a:p>
            <a:pPr algn="l"/>
            <a:endParaRPr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022D68E-A487-3A32-3077-685437586D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599" y="6356350"/>
            <a:ext cx="3026535" cy="365125"/>
          </a:xfrm>
        </p:spPr>
        <p:txBody>
          <a:bodyPr/>
          <a:lstStyle/>
          <a:p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MIMO Techniques in 5/6G     </a:t>
            </a:r>
            <a:fld id="{95B778F4-F869-49EC-876F-75AABD7B5BBF}" type="slidenum">
              <a:rPr lang="zh-CN" altLang="en-US" smtClean="0">
                <a:latin typeface="Arial" panose="020B0604020202020204" pitchFamily="34" charset="0"/>
                <a:cs typeface="Arial" panose="020B0604020202020204" pitchFamily="34" charset="0"/>
              </a:rPr>
              <a:t>8</a:t>
            </a:fld>
            <a:endParaRPr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5A95C3D1-7200-AC8D-C0A1-54A5E2ADDD31}"/>
              </a:ext>
            </a:extLst>
          </p:cNvPr>
          <p:cNvSpPr txBox="1"/>
          <p:nvPr/>
        </p:nvSpPr>
        <p:spPr>
          <a:xfrm>
            <a:off x="554865" y="1324860"/>
            <a:ext cx="11023242" cy="17030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b="1" dirty="0">
                <a:latin typeface="Arial" panose="020B0604020202020204" pitchFamily="34" charset="0"/>
                <a:cs typeface="Arial" panose="020B0604020202020204" pitchFamily="34" charset="0"/>
              </a:rPr>
              <a:t>Contribution: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800" dirty="0">
                <a:latin typeface="Arial" panose="020B0604020202020204" pitchFamily="34" charset="0"/>
                <a:cs typeface="Arial" panose="020B0604020202020204" pitchFamily="34" charset="0"/>
              </a:rPr>
              <a:t>Built a 3GPP-aligned </a:t>
            </a:r>
            <a:r>
              <a:rPr lang="en-US" altLang="zh-CN" sz="18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simulation framework </a:t>
            </a:r>
            <a:r>
              <a:rPr lang="en-US" altLang="zh-CN" sz="1800" dirty="0">
                <a:latin typeface="Arial" panose="020B0604020202020204" pitchFamily="34" charset="0"/>
                <a:cs typeface="Arial" panose="020B0604020202020204" pitchFamily="34" charset="0"/>
              </a:rPr>
              <a:t>for CSI-driven downlink MIMO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800" dirty="0">
                <a:latin typeface="Arial" panose="020B0604020202020204" pitchFamily="34" charset="0"/>
                <a:cs typeface="Arial" panose="020B0604020202020204" pitchFamily="34" charset="0"/>
              </a:rPr>
              <a:t>Quantified </a:t>
            </a:r>
            <a:r>
              <a:rPr lang="en-US" altLang="zh-CN" sz="18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throughput trends </a:t>
            </a:r>
            <a:r>
              <a:rPr lang="en-US" altLang="zh-CN" sz="1800" dirty="0">
                <a:latin typeface="Arial" panose="020B0604020202020204" pitchFamily="34" charset="0"/>
                <a:cs typeface="Arial" panose="020B0604020202020204" pitchFamily="34" charset="0"/>
              </a:rPr>
              <a:t>under MIMO configuration, mobility, and CSI reporting-period changes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800" dirty="0">
                <a:latin typeface="Arial" panose="020B0604020202020204" pitchFamily="34" charset="0"/>
                <a:cs typeface="Arial" panose="020B0604020202020204" pitchFamily="34" charset="0"/>
              </a:rPr>
              <a:t>Identified the </a:t>
            </a:r>
            <a:r>
              <a:rPr lang="en-US" altLang="zh-CN" sz="18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scenario-dependent benefits </a:t>
            </a:r>
            <a:r>
              <a:rPr lang="en-US" altLang="zh-CN" sz="1800" dirty="0">
                <a:latin typeface="Arial" panose="020B0604020202020204" pitchFamily="34" charset="0"/>
                <a:cs typeface="Arial" panose="020B0604020202020204" pitchFamily="34" charset="0"/>
              </a:rPr>
              <a:t>of CSI reporting and discussed the trade-off</a:t>
            </a:r>
            <a:endParaRPr lang="en-US" altLang="zh-CN" sz="1800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4D9A6B43-C5FA-6CD7-2929-388AC07827EA}"/>
              </a:ext>
            </a:extLst>
          </p:cNvPr>
          <p:cNvSpPr txBox="1"/>
          <p:nvPr/>
        </p:nvSpPr>
        <p:spPr>
          <a:xfrm>
            <a:off x="613892" y="3492803"/>
            <a:ext cx="11023242" cy="17030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b="1" dirty="0">
                <a:latin typeface="Arial" panose="020B0604020202020204" pitchFamily="34" charset="0"/>
                <a:cs typeface="Arial" panose="020B0604020202020204" pitchFamily="34" charset="0"/>
              </a:rPr>
              <a:t>Future work: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800" dirty="0">
                <a:latin typeface="Arial" panose="020B0604020202020204" pitchFamily="34" charset="0"/>
                <a:cs typeface="Arial" panose="020B0604020202020204" pitchFamily="34" charset="0"/>
              </a:rPr>
              <a:t>Develop </a:t>
            </a:r>
            <a:r>
              <a:rPr lang="en-US" altLang="zh-CN" sz="18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adaptive CSI reporting-period selection algorithms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800" dirty="0">
                <a:latin typeface="Arial" panose="020B0604020202020204" pitchFamily="34" charset="0"/>
                <a:cs typeface="Arial" panose="020B0604020202020204" pitchFamily="34" charset="0"/>
              </a:rPr>
              <a:t>Explore </a:t>
            </a:r>
            <a:r>
              <a:rPr lang="en-US" altLang="zh-CN" sz="18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AI-native</a:t>
            </a:r>
            <a:r>
              <a:rPr lang="en-US" altLang="zh-CN" sz="1800" dirty="0">
                <a:latin typeface="Arial" panose="020B0604020202020204" pitchFamily="34" charset="0"/>
                <a:cs typeface="Arial" panose="020B0604020202020204" pitchFamily="34" charset="0"/>
              </a:rPr>
              <a:t> CSI management for future 6G systems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Extend the simulation with HARQ and more realistic traffic / channel dynamics</a:t>
            </a:r>
          </a:p>
        </p:txBody>
      </p:sp>
    </p:spTree>
    <p:extLst>
      <p:ext uri="{BB962C8B-B14F-4D97-AF65-F5344CB8AC3E}">
        <p14:creationId xmlns:p14="http://schemas.microsoft.com/office/powerpoint/2010/main" val="21254886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3636CA58-7085-CA70-26AB-1E2085B851A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0059"/>
          <a:stretch>
            <a:fillRect/>
          </a:stretch>
        </p:blipFill>
        <p:spPr>
          <a:xfrm>
            <a:off x="1878826" y="2113184"/>
            <a:ext cx="874398" cy="2169980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B66F6066-49BA-70C3-E64B-3AAAB33E9DC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-9180" b="29650"/>
          <a:stretch>
            <a:fillRect/>
          </a:stretch>
        </p:blipFill>
        <p:spPr>
          <a:xfrm>
            <a:off x="7193884" y="2746619"/>
            <a:ext cx="613191" cy="903111"/>
          </a:xfrm>
          <a:prstGeom prst="rect">
            <a:avLst/>
          </a:prstGeom>
        </p:spPr>
      </p:pic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8943DBDD-F240-1225-9B57-904DF7FCA905}"/>
              </a:ext>
            </a:extLst>
          </p:cNvPr>
          <p:cNvCxnSpPr>
            <a:cxnSpLocks/>
          </p:cNvCxnSpPr>
          <p:nvPr/>
        </p:nvCxnSpPr>
        <p:spPr>
          <a:xfrm>
            <a:off x="3279421" y="2824968"/>
            <a:ext cx="3355623" cy="0"/>
          </a:xfrm>
          <a:prstGeom prst="straightConnector1">
            <a:avLst/>
          </a:prstGeom>
          <a:ln w="22225">
            <a:solidFill>
              <a:schemeClr val="tx1"/>
            </a:solidFill>
            <a:tail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文本框 17">
            <a:extLst>
              <a:ext uri="{FF2B5EF4-FFF2-40B4-BE49-F238E27FC236}">
                <a16:creationId xmlns:a16="http://schemas.microsoft.com/office/drawing/2014/main" id="{456DB5F0-094D-7BBD-F4C8-D1DF64067CBF}"/>
              </a:ext>
            </a:extLst>
          </p:cNvPr>
          <p:cNvSpPr txBox="1"/>
          <p:nvPr/>
        </p:nvSpPr>
        <p:spPr>
          <a:xfrm>
            <a:off x="4500403" y="2419135"/>
            <a:ext cx="107808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CSI-RS</a:t>
            </a:r>
            <a:endParaRPr lang="zh-CN" alt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3" name="直接箭头连接符 22">
            <a:extLst>
              <a:ext uri="{FF2B5EF4-FFF2-40B4-BE49-F238E27FC236}">
                <a16:creationId xmlns:a16="http://schemas.microsoft.com/office/drawing/2014/main" id="{3A3DDC28-4987-D6F2-AEA3-106A9AD82094}"/>
              </a:ext>
            </a:extLst>
          </p:cNvPr>
          <p:cNvCxnSpPr>
            <a:cxnSpLocks/>
          </p:cNvCxnSpPr>
          <p:nvPr/>
        </p:nvCxnSpPr>
        <p:spPr>
          <a:xfrm flipH="1">
            <a:off x="3279422" y="3380869"/>
            <a:ext cx="3355622" cy="0"/>
          </a:xfrm>
          <a:prstGeom prst="straightConnector1">
            <a:avLst/>
          </a:prstGeom>
          <a:ln w="22225">
            <a:solidFill>
              <a:schemeClr val="tx1"/>
            </a:solidFill>
            <a:tail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直接箭头连接符 25">
            <a:extLst>
              <a:ext uri="{FF2B5EF4-FFF2-40B4-BE49-F238E27FC236}">
                <a16:creationId xmlns:a16="http://schemas.microsoft.com/office/drawing/2014/main" id="{115EB51F-1E11-8CDC-E663-759358FDECC0}"/>
              </a:ext>
            </a:extLst>
          </p:cNvPr>
          <p:cNvCxnSpPr>
            <a:cxnSpLocks/>
          </p:cNvCxnSpPr>
          <p:nvPr/>
        </p:nvCxnSpPr>
        <p:spPr>
          <a:xfrm>
            <a:off x="3327400" y="3987724"/>
            <a:ext cx="3307644" cy="0"/>
          </a:xfrm>
          <a:prstGeom prst="straightConnector1">
            <a:avLst/>
          </a:prstGeom>
          <a:ln w="22225">
            <a:solidFill>
              <a:schemeClr val="tx1"/>
            </a:solidFill>
            <a:tail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文本框 26">
            <a:extLst>
              <a:ext uri="{FF2B5EF4-FFF2-40B4-BE49-F238E27FC236}">
                <a16:creationId xmlns:a16="http://schemas.microsoft.com/office/drawing/2014/main" id="{19691085-9066-EE79-027B-D8E54BEC7E98}"/>
              </a:ext>
            </a:extLst>
          </p:cNvPr>
          <p:cNvSpPr txBox="1"/>
          <p:nvPr/>
        </p:nvSpPr>
        <p:spPr>
          <a:xfrm>
            <a:off x="3237828" y="3054849"/>
            <a:ext cx="360323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CSI Feedback (PMI, RI, CQI,</a:t>
            </a:r>
            <a:r>
              <a:rPr lang="zh-CN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CRI)</a:t>
            </a:r>
            <a:endParaRPr lang="zh-CN" alt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7F4D1D8D-BCF4-78E5-A3B4-1FE1C7BCFED0}"/>
              </a:ext>
            </a:extLst>
          </p:cNvPr>
          <p:cNvSpPr txBox="1"/>
          <p:nvPr/>
        </p:nvSpPr>
        <p:spPr>
          <a:xfrm>
            <a:off x="4500403" y="3623283"/>
            <a:ext cx="107808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DL Data</a:t>
            </a:r>
            <a:endParaRPr lang="zh-CN" alt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ADDC3A9A-FFDE-5427-7C84-F4F6A745A195}"/>
              </a:ext>
            </a:extLst>
          </p:cNvPr>
          <p:cNvSpPr txBox="1"/>
          <p:nvPr/>
        </p:nvSpPr>
        <p:spPr>
          <a:xfrm>
            <a:off x="1288349" y="4406937"/>
            <a:ext cx="205535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gNB (Base Station)</a:t>
            </a:r>
            <a:endParaRPr lang="zh-CN" alt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9F9A76F6-93FA-12B1-2D8E-A32B694C07A7}"/>
              </a:ext>
            </a:extLst>
          </p:cNvPr>
          <p:cNvSpPr txBox="1"/>
          <p:nvPr/>
        </p:nvSpPr>
        <p:spPr>
          <a:xfrm>
            <a:off x="6395209" y="4406937"/>
            <a:ext cx="221053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UE (User Equipment)</a:t>
            </a:r>
            <a:endParaRPr lang="zh-CN" alt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354923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ucam_PowerPoint PPT_template_user_guide</Template>
  <TotalTime>870</TotalTime>
  <Words>471</Words>
  <Application>Microsoft Office PowerPoint</Application>
  <PresentationFormat>宽屏</PresentationFormat>
  <Paragraphs>63</Paragraphs>
  <Slides>9</Slides>
  <Notes>7</Notes>
  <HiddenSlides>2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4" baseType="lpstr">
      <vt:lpstr>等线</vt:lpstr>
      <vt:lpstr>等线 Light</vt:lpstr>
      <vt:lpstr>Arial</vt:lpstr>
      <vt:lpstr>Cambria Math</vt:lpstr>
      <vt:lpstr>Office 主题​​</vt:lpstr>
      <vt:lpstr>CSI-Fesedback-Driven Link Adaptation in 5G NR Downlink MIMO: A Link Level Simulation Study</vt:lpstr>
      <vt:lpstr>Project Objectives</vt:lpstr>
      <vt:lpstr>Channel State Information (CSI)</vt:lpstr>
      <vt:lpstr>Simulation Framework</vt:lpstr>
      <vt:lpstr>Impact of Mobility on Throughput</vt:lpstr>
      <vt:lpstr>Baseline Link Adaptation</vt:lpstr>
      <vt:lpstr>CSI Reporting Periodicity</vt:lpstr>
      <vt:lpstr>Contributions and Future Work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Kaiyuan Bao</dc:creator>
  <cp:lastModifiedBy>Kaiyuan Bao</cp:lastModifiedBy>
  <cp:revision>855</cp:revision>
  <dcterms:created xsi:type="dcterms:W3CDTF">2025-11-16T20:07:29Z</dcterms:created>
  <dcterms:modified xsi:type="dcterms:W3CDTF">2026-06-04T00:18:24Z</dcterms:modified>
</cp:coreProperties>
</file>